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solidFill>
            <a:prstDash val="solid"/>
          </a:ln>
        </p:spPr>
      </p:sp>
      <p:sp>
        <p:nvSpPr>
          <p:cNvPr id="3" name="Shape 1"/>
          <p:cNvSpPr/>
          <p:nvPr/>
        </p:nvSpPr>
        <p:spPr>
          <a:xfrm>
            <a:off x="228600" y="228600"/>
            <a:ext cx="11734495" cy="6400800"/>
          </a:xfrm>
          <a:prstGeom prst="rect">
            <a:avLst/>
          </a:prstGeom>
          <a:solidFill>
            <a:srgbClr val="08111F">
              <a:alpha val="0"/>
            </a:srgbClr>
          </a:solidFill>
          <a:ln w="12700">
            <a:solidFill>
              <a:srgbClr val="203A59">
                <a:alpha val="70000"/>
              </a:srgbClr>
            </a:solidFill>
            <a:prstDash val="solid"/>
          </a:ln>
        </p:spPr>
      </p:sp>
      <p:sp>
        <p:nvSpPr>
          <p:cNvPr id="4" name="Text 2"/>
          <p:cNvSpPr/>
          <p:nvPr/>
        </p:nvSpPr>
        <p:spPr>
          <a:xfrm>
            <a:off x="685800" y="960120"/>
            <a:ext cx="7498080" cy="502920"/>
          </a:xfrm>
          <a:prstGeom prst="rect">
            <a:avLst/>
          </a:prstGeom>
          <a:noFill/>
          <a:ln/>
        </p:spPr>
        <p:txBody>
          <a:bodyPr wrap="square" lIns="0" tIns="0" rIns="0" bIns="0" rtlCol="0" anchor="ctr"/>
          <a:lstStyle/>
          <a:p>
            <a:pPr indent="0" marL="0">
              <a:buNone/>
            </a:pPr>
            <a:r>
              <a:rPr lang="en-US" sz="3800" b="1" dirty="0">
                <a:solidFill>
                  <a:srgbClr val="F4F7FB"/>
                </a:solidFill>
                <a:latin typeface="Aptos Display" pitchFamily="34" charset="0"/>
                <a:ea typeface="Aptos Display" pitchFamily="34" charset="-122"/>
                <a:cs typeface="Aptos Display" pitchFamily="34" charset="-120"/>
              </a:rPr>
              <a:t>Moteur à distorsion froide</a:t>
            </a:r>
            <a:endParaRPr lang="en-US" sz="3800" dirty="0"/>
          </a:p>
        </p:txBody>
      </p:sp>
      <p:sp>
        <p:nvSpPr>
          <p:cNvPr id="5" name="Text 3"/>
          <p:cNvSpPr/>
          <p:nvPr/>
        </p:nvSpPr>
        <p:spPr>
          <a:xfrm>
            <a:off x="713232" y="1581912"/>
            <a:ext cx="7955280" cy="347472"/>
          </a:xfrm>
          <a:prstGeom prst="rect">
            <a:avLst/>
          </a:prstGeom>
          <a:noFill/>
          <a:ln/>
        </p:spPr>
        <p:txBody>
          <a:bodyPr wrap="square" lIns="0" tIns="0" rIns="0" bIns="0" rtlCol="0" anchor="ctr"/>
          <a:lstStyle/>
          <a:p>
            <a:pPr indent="0" marL="0">
              <a:buNone/>
            </a:pPr>
            <a:r>
              <a:rPr lang="en-US" sz="1500" dirty="0">
                <a:solidFill>
                  <a:srgbClr val="B5C0CE"/>
                </a:solidFill>
              </a:rPr>
              <a:t>Ébauche rapide d’un travail de recherche — intégration numérique dans Kinetic V3</a:t>
            </a:r>
            <a:endParaRPr lang="en-US" sz="1500" dirty="0"/>
          </a:p>
        </p:txBody>
      </p:sp>
      <p:sp>
        <p:nvSpPr>
          <p:cNvPr id="6" name="Shape 4"/>
          <p:cNvSpPr/>
          <p:nvPr/>
        </p:nvSpPr>
        <p:spPr>
          <a:xfrm>
            <a:off x="749808" y="2139696"/>
            <a:ext cx="1828800" cy="310896"/>
          </a:xfrm>
          <a:prstGeom prst="roundRect">
            <a:avLst>
              <a:gd name="adj" fmla="val 23529"/>
            </a:avLst>
          </a:prstGeom>
          <a:solidFill>
            <a:srgbClr val="A78BFA">
              <a:alpha val="88000"/>
            </a:srgbClr>
          </a:solidFill>
          <a:ln w="12700">
            <a:solidFill>
              <a:srgbClr val="A78BFA"/>
            </a:solidFill>
            <a:prstDash val="solid"/>
          </a:ln>
        </p:spPr>
      </p:sp>
      <p:sp>
        <p:nvSpPr>
          <p:cNvPr id="7" name="Text 5"/>
          <p:cNvSpPr/>
          <p:nvPr/>
        </p:nvSpPr>
        <p:spPr>
          <a:xfrm>
            <a:off x="841248" y="2217420"/>
            <a:ext cx="1645920" cy="128016"/>
          </a:xfrm>
          <a:prstGeom prst="rect">
            <a:avLst/>
          </a:prstGeom>
          <a:noFill/>
          <a:ln/>
        </p:spPr>
        <p:txBody>
          <a:bodyPr wrap="square" lIns="0" tIns="0" rIns="0" bIns="0" rtlCol="0" anchor="ctr"/>
          <a:lstStyle/>
          <a:p>
            <a:pPr algn="ctr" indent="0" marL="0">
              <a:buNone/>
            </a:pPr>
            <a:r>
              <a:rPr lang="en-US" sz="870" b="1" dirty="0">
                <a:solidFill>
                  <a:srgbClr val="F4F7FB"/>
                </a:solidFill>
              </a:rPr>
              <a:t>Hypothèse conceptuelle</a:t>
            </a:r>
            <a:endParaRPr lang="en-US" sz="870" dirty="0"/>
          </a:p>
        </p:txBody>
      </p:sp>
      <p:sp>
        <p:nvSpPr>
          <p:cNvPr id="8" name="Shape 6"/>
          <p:cNvSpPr/>
          <p:nvPr/>
        </p:nvSpPr>
        <p:spPr>
          <a:xfrm>
            <a:off x="2724912" y="2139696"/>
            <a:ext cx="1645920" cy="310896"/>
          </a:xfrm>
          <a:prstGeom prst="roundRect">
            <a:avLst>
              <a:gd name="adj" fmla="val 23529"/>
            </a:avLst>
          </a:prstGeom>
          <a:solidFill>
            <a:srgbClr val="60A5FA">
              <a:alpha val="88000"/>
            </a:srgbClr>
          </a:solidFill>
          <a:ln w="12700">
            <a:solidFill>
              <a:srgbClr val="60A5FA"/>
            </a:solidFill>
            <a:prstDash val="solid"/>
          </a:ln>
        </p:spPr>
      </p:sp>
      <p:sp>
        <p:nvSpPr>
          <p:cNvPr id="9" name="Text 7"/>
          <p:cNvSpPr/>
          <p:nvPr/>
        </p:nvSpPr>
        <p:spPr>
          <a:xfrm>
            <a:off x="2816352" y="2217420"/>
            <a:ext cx="1463040" cy="128016"/>
          </a:xfrm>
          <a:prstGeom prst="rect">
            <a:avLst/>
          </a:prstGeom>
          <a:noFill/>
          <a:ln/>
        </p:spPr>
        <p:txBody>
          <a:bodyPr wrap="square" lIns="0" tIns="0" rIns="0" bIns="0" rtlCol="0" anchor="ctr"/>
          <a:lstStyle/>
          <a:p>
            <a:pPr algn="ctr" indent="0" marL="0">
              <a:buNone/>
            </a:pPr>
            <a:r>
              <a:rPr lang="en-US" sz="870" b="1" dirty="0">
                <a:solidFill>
                  <a:srgbClr val="F4F7FB"/>
                </a:solidFill>
              </a:rPr>
              <a:t>Digital twin abstrait</a:t>
            </a:r>
            <a:endParaRPr lang="en-US" sz="870" dirty="0"/>
          </a:p>
        </p:txBody>
      </p:sp>
      <p:sp>
        <p:nvSpPr>
          <p:cNvPr id="10" name="Shape 8"/>
          <p:cNvSpPr/>
          <p:nvPr/>
        </p:nvSpPr>
        <p:spPr>
          <a:xfrm>
            <a:off x="4526280" y="2139696"/>
            <a:ext cx="1463040" cy="310896"/>
          </a:xfrm>
          <a:prstGeom prst="roundRect">
            <a:avLst>
              <a:gd name="adj" fmla="val 23529"/>
            </a:avLst>
          </a:prstGeom>
          <a:solidFill>
            <a:srgbClr val="67E8F9">
              <a:alpha val="88000"/>
            </a:srgbClr>
          </a:solidFill>
          <a:ln w="12700">
            <a:solidFill>
              <a:srgbClr val="67E8F9"/>
            </a:solidFill>
            <a:prstDash val="solid"/>
          </a:ln>
        </p:spPr>
      </p:sp>
      <p:sp>
        <p:nvSpPr>
          <p:cNvPr id="11" name="Text 9"/>
          <p:cNvSpPr/>
          <p:nvPr/>
        </p:nvSpPr>
        <p:spPr>
          <a:xfrm>
            <a:off x="4617720" y="2217420"/>
            <a:ext cx="1280160" cy="128016"/>
          </a:xfrm>
          <a:prstGeom prst="rect">
            <a:avLst/>
          </a:prstGeom>
          <a:noFill/>
          <a:ln/>
        </p:spPr>
        <p:txBody>
          <a:bodyPr wrap="square" lIns="0" tIns="0" rIns="0" bIns="0" rtlCol="0" anchor="ctr"/>
          <a:lstStyle/>
          <a:p>
            <a:pPr algn="ctr" indent="0" marL="0">
              <a:buNone/>
            </a:pPr>
            <a:r>
              <a:rPr lang="en-US" sz="870" b="1" dirty="0">
                <a:solidFill>
                  <a:srgbClr val="F4F7FB"/>
                </a:solidFill>
              </a:rPr>
              <a:t>Traçabilité &amp; V&amp;V</a:t>
            </a:r>
            <a:endParaRPr lang="en-US" sz="870" dirty="0"/>
          </a:p>
        </p:txBody>
      </p:sp>
      <p:sp>
        <p:nvSpPr>
          <p:cNvPr id="12" name="Shape 10"/>
          <p:cNvSpPr/>
          <p:nvPr/>
        </p:nvSpPr>
        <p:spPr>
          <a:xfrm>
            <a:off x="8732520" y="2898648"/>
            <a:ext cx="1828800" cy="1060704"/>
          </a:xfrm>
          <a:prstGeom prst="arc">
            <a:avLst/>
          </a:prstGeom>
          <a:solidFill>
            <a:srgbClr val="08111F">
              <a:alpha val="0"/>
            </a:srgbClr>
          </a:solidFill>
          <a:ln w="12700">
            <a:solidFill>
              <a:srgbClr val="67E8F9"/>
            </a:solidFill>
            <a:prstDash val="solid"/>
          </a:ln>
        </p:spPr>
      </p:sp>
      <p:sp>
        <p:nvSpPr>
          <p:cNvPr id="13" name="Shape 11"/>
          <p:cNvSpPr/>
          <p:nvPr/>
        </p:nvSpPr>
        <p:spPr>
          <a:xfrm rot="1080000">
            <a:off x="8229600" y="2606954"/>
            <a:ext cx="2834640" cy="1644091"/>
          </a:xfrm>
          <a:prstGeom prst="arc">
            <a:avLst/>
          </a:prstGeom>
          <a:solidFill>
            <a:srgbClr val="08111F">
              <a:alpha val="0"/>
            </a:srgbClr>
          </a:solidFill>
          <a:ln w="12700">
            <a:solidFill>
              <a:srgbClr val="60A5FA">
                <a:alpha val="90000"/>
              </a:srgbClr>
            </a:solidFill>
            <a:prstDash val="solid"/>
          </a:ln>
        </p:spPr>
      </p:sp>
      <p:sp>
        <p:nvSpPr>
          <p:cNvPr id="14" name="Shape 12"/>
          <p:cNvSpPr/>
          <p:nvPr/>
        </p:nvSpPr>
        <p:spPr>
          <a:xfrm rot="2160000">
            <a:off x="7726680" y="2315261"/>
            <a:ext cx="3840480" cy="2227478"/>
          </a:xfrm>
          <a:prstGeom prst="arc">
            <a:avLst/>
          </a:prstGeom>
          <a:solidFill>
            <a:srgbClr val="08111F">
              <a:alpha val="0"/>
            </a:srgbClr>
          </a:solidFill>
          <a:ln w="12700">
            <a:solidFill>
              <a:srgbClr val="A78BFA">
                <a:alpha val="80000"/>
              </a:srgbClr>
            </a:solidFill>
            <a:prstDash val="solid"/>
          </a:ln>
        </p:spPr>
      </p:sp>
      <p:sp>
        <p:nvSpPr>
          <p:cNvPr id="15" name="Shape 13"/>
          <p:cNvSpPr/>
          <p:nvPr/>
        </p:nvSpPr>
        <p:spPr>
          <a:xfrm rot="3240000">
            <a:off x="7223760" y="2023567"/>
            <a:ext cx="4846320" cy="2810866"/>
          </a:xfrm>
          <a:prstGeom prst="arc">
            <a:avLst/>
          </a:prstGeom>
          <a:solidFill>
            <a:srgbClr val="08111F">
              <a:alpha val="0"/>
            </a:srgbClr>
          </a:solidFill>
          <a:ln w="12700">
            <a:solidFill>
              <a:srgbClr val="86EFAC">
                <a:alpha val="70000"/>
              </a:srgbClr>
            </a:solidFill>
            <a:prstDash val="solid"/>
          </a:ln>
        </p:spPr>
      </p:sp>
      <p:sp>
        <p:nvSpPr>
          <p:cNvPr id="16" name="Shape 14"/>
          <p:cNvSpPr/>
          <p:nvPr/>
        </p:nvSpPr>
        <p:spPr>
          <a:xfrm>
            <a:off x="9070848" y="3081528"/>
            <a:ext cx="1152144" cy="694944"/>
          </a:xfrm>
          <a:prstGeom prst="ellipse">
            <a:avLst/>
          </a:prstGeom>
          <a:solidFill>
            <a:srgbClr val="67E8F9">
              <a:alpha val="70000"/>
            </a:srgbClr>
          </a:solidFill>
          <a:ln w="12700">
            <a:solidFill>
              <a:srgbClr val="67E8F9"/>
            </a:solidFill>
            <a:prstDash val="solid"/>
          </a:ln>
        </p:spPr>
      </p:sp>
      <p:sp>
        <p:nvSpPr>
          <p:cNvPr id="17" name="Text 15"/>
          <p:cNvSpPr/>
          <p:nvPr/>
        </p:nvSpPr>
        <p:spPr>
          <a:xfrm>
            <a:off x="9262872" y="3273552"/>
            <a:ext cx="777240" cy="164592"/>
          </a:xfrm>
          <a:prstGeom prst="rect">
            <a:avLst/>
          </a:prstGeom>
          <a:noFill/>
          <a:ln/>
        </p:spPr>
        <p:txBody>
          <a:bodyPr wrap="square" lIns="0" tIns="0" rIns="0" bIns="0" rtlCol="0" anchor="ctr"/>
          <a:lstStyle/>
          <a:p>
            <a:pPr algn="ctr" indent="0" marL="0">
              <a:buNone/>
            </a:pPr>
            <a:r>
              <a:rPr lang="en-US" sz="1200" b="1" dirty="0">
                <a:solidFill>
                  <a:srgbClr val="F4F7FB"/>
                </a:solidFill>
              </a:rPr>
              <a:t>NOX</a:t>
            </a:r>
            <a:endParaRPr lang="en-US" sz="1200" dirty="0"/>
          </a:p>
        </p:txBody>
      </p:sp>
      <p:sp>
        <p:nvSpPr>
          <p:cNvPr id="18" name="Text 16"/>
          <p:cNvSpPr/>
          <p:nvPr/>
        </p:nvSpPr>
        <p:spPr>
          <a:xfrm>
            <a:off x="713232" y="5623560"/>
            <a:ext cx="6583680" cy="310896"/>
          </a:xfrm>
          <a:prstGeom prst="rect">
            <a:avLst/>
          </a:prstGeom>
          <a:noFill/>
          <a:ln/>
        </p:spPr>
        <p:txBody>
          <a:bodyPr wrap="square" lIns="0" tIns="0" rIns="0" bIns="0" rtlCol="0" anchor="ctr"/>
          <a:lstStyle/>
          <a:p>
            <a:pPr indent="0" marL="0">
              <a:buNone/>
            </a:pPr>
            <a:r>
              <a:rPr lang="en-US" sz="1150" dirty="0">
                <a:solidFill>
                  <a:srgbClr val="A9B8C9"/>
                </a:solidFill>
              </a:rPr>
              <a:t>Statut : modèle exploratoire, non validé physiquement, documenté pour simulation et discussion.</a:t>
            </a:r>
            <a:endParaRPr lang="en-US" sz="1150" dirty="0"/>
          </a:p>
        </p:txBody>
      </p:sp>
      <p:sp>
        <p:nvSpPr>
          <p:cNvPr id="19" name="Text 17"/>
          <p:cNvSpPr/>
          <p:nvPr/>
        </p:nvSpPr>
        <p:spPr>
          <a:xfrm>
            <a:off x="502920" y="6473952"/>
            <a:ext cx="6675120" cy="228600"/>
          </a:xfrm>
          <a:prstGeom prst="rect">
            <a:avLst/>
          </a:prstGeom>
          <a:noFill/>
          <a:ln/>
        </p:spPr>
        <p:txBody>
          <a:bodyPr wrap="square" lIns="0" tIns="0" rIns="0" bIns="0" rtlCol="0" anchor="ctr"/>
          <a:lstStyle/>
          <a:p>
            <a:pPr indent="0" marL="0">
              <a:buNone/>
            </a:pPr>
            <a:r>
              <a:rPr lang="en-US" sz="850" dirty="0">
                <a:solidFill>
                  <a:srgbClr val="7891AD"/>
                </a:solidFill>
              </a:rPr>
              <a:t>AIONE · Kinetic Digital Package · version recherche non-physique</a:t>
            </a:r>
            <a:endParaRPr lang="en-US" sz="850" dirty="0"/>
          </a:p>
        </p:txBody>
      </p:sp>
      <p:sp>
        <p:nvSpPr>
          <p:cNvPr id="20" name="Text 18"/>
          <p:cNvSpPr/>
          <p:nvPr/>
        </p:nvSpPr>
        <p:spPr>
          <a:xfrm>
            <a:off x="11292840" y="6419088"/>
            <a:ext cx="384048" cy="237744"/>
          </a:xfrm>
          <a:prstGeom prst="rect">
            <a:avLst/>
          </a:prstGeom>
          <a:noFill/>
          <a:ln/>
        </p:spPr>
        <p:txBody>
          <a:bodyPr wrap="square" lIns="0" tIns="0" rIns="0" bIns="0" rtlCol="0" anchor="ctr"/>
          <a:lstStyle/>
          <a:p>
            <a:pPr algn="r" indent="0" marL="0">
              <a:buNone/>
            </a:pPr>
            <a:r>
              <a:rPr lang="en-US" sz="900" b="1" dirty="0">
                <a:solidFill>
                  <a:srgbClr val="67E8F9"/>
                </a:solidFill>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solidFill>
            <a:prstDash val="solid"/>
          </a:ln>
        </p:spPr>
      </p:sp>
      <p:sp>
        <p:nvSpPr>
          <p:cNvPr id="3" name="Shape 1"/>
          <p:cNvSpPr/>
          <p:nvPr/>
        </p:nvSpPr>
        <p:spPr>
          <a:xfrm>
            <a:off x="228600" y="228600"/>
            <a:ext cx="11734495" cy="6400800"/>
          </a:xfrm>
          <a:prstGeom prst="rect">
            <a:avLst/>
          </a:prstGeom>
          <a:solidFill>
            <a:srgbClr val="08111F">
              <a:alpha val="0"/>
            </a:srgbClr>
          </a:solidFill>
          <a:ln w="12700">
            <a:solidFill>
              <a:srgbClr val="203A59">
                <a:alpha val="70000"/>
              </a:srgbClr>
            </a:solidFill>
            <a:prstDash val="solid"/>
          </a:ln>
        </p:spPr>
      </p:sp>
      <p:sp>
        <p:nvSpPr>
          <p:cNvPr id="4" name="Text 2"/>
          <p:cNvSpPr/>
          <p:nvPr/>
        </p:nvSpPr>
        <p:spPr>
          <a:xfrm>
            <a:off x="502920" y="384048"/>
            <a:ext cx="7863840" cy="438912"/>
          </a:xfrm>
          <a:prstGeom prst="rect">
            <a:avLst/>
          </a:prstGeom>
          <a:noFill/>
          <a:ln/>
        </p:spPr>
        <p:txBody>
          <a:bodyPr wrap="square" lIns="0" tIns="0" rIns="0" bIns="0" rtlCol="0" anchor="ctr"/>
          <a:lstStyle/>
          <a:p>
            <a:pPr indent="0" marL="0">
              <a:buNone/>
            </a:pPr>
            <a:r>
              <a:rPr lang="en-US" sz="3000" b="1" dirty="0">
                <a:solidFill>
                  <a:srgbClr val="F4F7FB"/>
                </a:solidFill>
                <a:latin typeface="Aptos Display" pitchFamily="34" charset="0"/>
                <a:ea typeface="Aptos Display" pitchFamily="34" charset="-122"/>
                <a:cs typeface="Aptos Display" pitchFamily="34" charset="-120"/>
              </a:rPr>
              <a:t>1 · Idée de recherche</a:t>
            </a:r>
            <a:endParaRPr lang="en-US" sz="3000" dirty="0"/>
          </a:p>
        </p:txBody>
      </p:sp>
      <p:sp>
        <p:nvSpPr>
          <p:cNvPr id="5" name="Text 3"/>
          <p:cNvSpPr/>
          <p:nvPr/>
        </p:nvSpPr>
        <p:spPr>
          <a:xfrm>
            <a:off x="530352" y="877824"/>
            <a:ext cx="8046720" cy="274320"/>
          </a:xfrm>
          <a:prstGeom prst="rect">
            <a:avLst/>
          </a:prstGeom>
          <a:noFill/>
          <a:ln/>
        </p:spPr>
        <p:txBody>
          <a:bodyPr wrap="square" lIns="0" tIns="0" rIns="0" bIns="0" rtlCol="0" anchor="ctr"/>
          <a:lstStyle/>
          <a:p>
            <a:pPr indent="0" marL="0">
              <a:buNone/>
            </a:pPr>
            <a:r>
              <a:rPr lang="en-US" sz="1250" dirty="0">
                <a:solidFill>
                  <a:srgbClr val="B5C0CE"/>
                </a:solidFill>
              </a:rPr>
              <a:t>Remplacer la promesse physique par une représentation calculable et vérifiable.</a:t>
            </a:r>
            <a:endParaRPr lang="en-US" sz="1250" dirty="0"/>
          </a:p>
        </p:txBody>
      </p:sp>
      <p:sp>
        <p:nvSpPr>
          <p:cNvPr id="6" name="Shape 4"/>
          <p:cNvSpPr/>
          <p:nvPr/>
        </p:nvSpPr>
        <p:spPr>
          <a:xfrm>
            <a:off x="640080" y="1508760"/>
            <a:ext cx="3246120" cy="4114800"/>
          </a:xfrm>
          <a:prstGeom prst="roundRect">
            <a:avLst>
              <a:gd name="adj" fmla="val 3380"/>
            </a:avLst>
          </a:prstGeom>
          <a:solidFill>
            <a:srgbClr val="122943"/>
          </a:solidFill>
          <a:ln w="12700">
            <a:solidFill>
              <a:srgbClr val="203A59">
                <a:alpha val="85000"/>
              </a:srgbClr>
            </a:solidFill>
            <a:prstDash val="solid"/>
          </a:ln>
        </p:spPr>
      </p:sp>
      <p:sp>
        <p:nvSpPr>
          <p:cNvPr id="7" name="Text 5"/>
          <p:cNvSpPr/>
          <p:nvPr/>
        </p:nvSpPr>
        <p:spPr>
          <a:xfrm>
            <a:off x="868680" y="1764792"/>
            <a:ext cx="2377440" cy="228600"/>
          </a:xfrm>
          <a:prstGeom prst="rect">
            <a:avLst/>
          </a:prstGeom>
          <a:noFill/>
          <a:ln/>
        </p:spPr>
        <p:txBody>
          <a:bodyPr wrap="square" lIns="0" tIns="0" rIns="0" bIns="0" rtlCol="0" anchor="ctr"/>
          <a:lstStyle/>
          <a:p>
            <a:pPr indent="0" marL="0">
              <a:buNone/>
            </a:pPr>
            <a:r>
              <a:rPr lang="en-US" sz="1600" b="1" dirty="0">
                <a:solidFill>
                  <a:srgbClr val="F4F7FB"/>
                </a:solidFill>
              </a:rPr>
              <a:t>Problème classique</a:t>
            </a:r>
            <a:endParaRPr lang="en-US" sz="1600" dirty="0"/>
          </a:p>
        </p:txBody>
      </p:sp>
      <p:sp>
        <p:nvSpPr>
          <p:cNvPr id="8" name="Text 6"/>
          <p:cNvSpPr/>
          <p:nvPr/>
        </p:nvSpPr>
        <p:spPr>
          <a:xfrm>
            <a:off x="896112" y="2212848"/>
            <a:ext cx="2560320" cy="1280160"/>
          </a:xfrm>
          <a:prstGeom prst="rect">
            <a:avLst/>
          </a:prstGeom>
          <a:noFill/>
          <a:ln/>
        </p:spPr>
        <p:txBody>
          <a:bodyPr wrap="square" lIns="254" tIns="254" rIns="254" bIns="254" rtlCol="0" anchor="ctr">
            <a:normAutofit/>
          </a:bodyPr>
          <a:lstStyle/>
          <a:p>
            <a:pPr indent="0" marL="0">
              <a:buNone/>
            </a:pPr>
            <a:r>
              <a:rPr lang="en-US" sz="1400" dirty="0">
                <a:solidFill>
                  <a:srgbClr val="B5C0CE"/>
                </a:solidFill>
              </a:rPr>
              <a:t>• poussée / énergie / masse</a:t>
            </a:r>
            <a:endParaRPr lang="en-US" sz="1400" dirty="0"/>
          </a:p>
          <a:p>
            <a:pPr indent="0" marL="0">
              <a:buNone/>
            </a:pPr>
            <a:r>
              <a:rPr lang="en-US" sz="1400" dirty="0">
                <a:solidFill>
                  <a:srgbClr val="B5C0CE"/>
                </a:solidFill>
              </a:rPr>
              <a:t>• contraintes thermiques</a:t>
            </a:r>
            <a:endParaRPr lang="en-US" sz="1400" dirty="0"/>
          </a:p>
          <a:p>
            <a:pPr indent="0" marL="0">
              <a:buNone/>
            </a:pPr>
            <a:r>
              <a:rPr lang="en-US" sz="1400" dirty="0">
                <a:solidFill>
                  <a:srgbClr val="B5C0CE"/>
                </a:solidFill>
              </a:rPr>
              <a:t>• trajectoire et guidage</a:t>
            </a:r>
            <a:endParaRPr lang="en-US" sz="1400" dirty="0"/>
          </a:p>
          <a:p>
            <a:pPr indent="0" marL="0">
              <a:buNone/>
            </a:pPr>
            <a:r>
              <a:rPr lang="en-US" sz="1400" dirty="0">
                <a:solidFill>
                  <a:srgbClr val="B5C0CE"/>
                </a:solidFill>
              </a:rPr>
              <a:t>• validation physique lourde</a:t>
            </a:r>
            <a:endParaRPr lang="en-US" sz="1400" dirty="0"/>
          </a:p>
        </p:txBody>
      </p:sp>
      <p:sp>
        <p:nvSpPr>
          <p:cNvPr id="9" name="Shape 7"/>
          <p:cNvSpPr/>
          <p:nvPr/>
        </p:nvSpPr>
        <p:spPr>
          <a:xfrm>
            <a:off x="4480560" y="1508760"/>
            <a:ext cx="3246120" cy="4114800"/>
          </a:xfrm>
          <a:prstGeom prst="roundRect">
            <a:avLst>
              <a:gd name="adj" fmla="val 3380"/>
            </a:avLst>
          </a:prstGeom>
          <a:solidFill>
            <a:srgbClr val="122943"/>
          </a:solidFill>
          <a:ln w="12700">
            <a:solidFill>
              <a:srgbClr val="203A59">
                <a:alpha val="85000"/>
              </a:srgbClr>
            </a:solidFill>
            <a:prstDash val="solid"/>
          </a:ln>
        </p:spPr>
      </p:sp>
      <p:sp>
        <p:nvSpPr>
          <p:cNvPr id="10" name="Text 8"/>
          <p:cNvSpPr/>
          <p:nvPr/>
        </p:nvSpPr>
        <p:spPr>
          <a:xfrm>
            <a:off x="4709160" y="1764792"/>
            <a:ext cx="2377440" cy="228600"/>
          </a:xfrm>
          <a:prstGeom prst="rect">
            <a:avLst/>
          </a:prstGeom>
          <a:noFill/>
          <a:ln/>
        </p:spPr>
        <p:txBody>
          <a:bodyPr wrap="square" lIns="0" tIns="0" rIns="0" bIns="0" rtlCol="0" anchor="ctr"/>
          <a:lstStyle/>
          <a:p>
            <a:pPr indent="0" marL="0">
              <a:buNone/>
            </a:pPr>
            <a:r>
              <a:rPr lang="en-US" sz="1600" b="1" dirty="0">
                <a:solidFill>
                  <a:srgbClr val="F4F7FB"/>
                </a:solidFill>
              </a:rPr>
              <a:t>Hypothèse froide</a:t>
            </a:r>
            <a:endParaRPr lang="en-US" sz="1600" dirty="0"/>
          </a:p>
        </p:txBody>
      </p:sp>
      <p:sp>
        <p:nvSpPr>
          <p:cNvPr id="11" name="Text 9"/>
          <p:cNvSpPr/>
          <p:nvPr/>
        </p:nvSpPr>
        <p:spPr>
          <a:xfrm>
            <a:off x="4736592" y="2212848"/>
            <a:ext cx="2560320" cy="1280160"/>
          </a:xfrm>
          <a:prstGeom prst="rect">
            <a:avLst/>
          </a:prstGeom>
          <a:noFill/>
          <a:ln/>
        </p:spPr>
        <p:txBody>
          <a:bodyPr wrap="square" lIns="254" tIns="254" rIns="254" bIns="254" rtlCol="0" anchor="ctr"/>
          <a:lstStyle/>
          <a:p>
            <a:pPr indent="0" marL="0">
              <a:buNone/>
            </a:pPr>
            <a:r>
              <a:rPr lang="en-US" sz="1400" dirty="0">
                <a:solidFill>
                  <a:srgbClr val="B5C0CE"/>
                </a:solidFill>
              </a:rPr>
              <a:t>• carte de distances locale</a:t>
            </a:r>
            <a:endParaRPr lang="en-US" sz="1400" dirty="0"/>
          </a:p>
          <a:p>
            <a:pPr indent="0" marL="0">
              <a:buNone/>
            </a:pPr>
            <a:r>
              <a:rPr lang="en-US" sz="1400" dirty="0">
                <a:solidFill>
                  <a:srgbClr val="B5C0CE"/>
                </a:solidFill>
              </a:rPr>
              <a:t>• pente d’espace abstraite</a:t>
            </a:r>
            <a:endParaRPr lang="en-US" sz="1400" dirty="0"/>
          </a:p>
          <a:p>
            <a:pPr indent="0" marL="0">
              <a:buNone/>
            </a:pPr>
            <a:r>
              <a:rPr lang="en-US" sz="1400" dirty="0">
                <a:solidFill>
                  <a:srgbClr val="B5C0CE"/>
                </a:solidFill>
              </a:rPr>
              <a:t>• NOX comme noyau conceptuel</a:t>
            </a:r>
            <a:endParaRPr lang="en-US" sz="1400" dirty="0"/>
          </a:p>
          <a:p>
            <a:pPr indent="0" marL="0">
              <a:buNone/>
            </a:pPr>
            <a:r>
              <a:rPr lang="en-US" sz="1400" dirty="0">
                <a:solidFill>
                  <a:srgbClr val="B5C0CE"/>
                </a:solidFill>
              </a:rPr>
              <a:t>• pas de recette physique</a:t>
            </a:r>
            <a:endParaRPr lang="en-US" sz="1400" dirty="0"/>
          </a:p>
        </p:txBody>
      </p:sp>
      <p:sp>
        <p:nvSpPr>
          <p:cNvPr id="12" name="Shape 10"/>
          <p:cNvSpPr/>
          <p:nvPr/>
        </p:nvSpPr>
        <p:spPr>
          <a:xfrm>
            <a:off x="3950208" y="3520440"/>
            <a:ext cx="438912" cy="0"/>
          </a:xfrm>
          <a:prstGeom prst="line">
            <a:avLst/>
          </a:prstGeom>
          <a:noFill/>
          <a:ln w="12700">
            <a:solidFill>
              <a:srgbClr val="67E8F9"/>
            </a:solidFill>
            <a:prstDash val="solid"/>
            <a:headEnd type="none"/>
            <a:tailEnd type="triangle"/>
          </a:ln>
        </p:spPr>
      </p:sp>
      <p:sp>
        <p:nvSpPr>
          <p:cNvPr id="13" name="Shape 11"/>
          <p:cNvSpPr/>
          <p:nvPr/>
        </p:nvSpPr>
        <p:spPr>
          <a:xfrm>
            <a:off x="8549640" y="1609344"/>
            <a:ext cx="475488" cy="3931920"/>
          </a:xfrm>
          <a:prstGeom prst="bracePair">
            <a:avLst/>
          </a:prstGeom>
          <a:solidFill>
            <a:srgbClr val="08111F">
              <a:alpha val="0"/>
            </a:srgbClr>
          </a:solidFill>
          <a:ln w="12700">
            <a:solidFill>
              <a:srgbClr val="A78BFA"/>
            </a:solidFill>
            <a:prstDash val="solid"/>
          </a:ln>
        </p:spPr>
      </p:sp>
      <p:sp>
        <p:nvSpPr>
          <p:cNvPr id="14" name="Text 12"/>
          <p:cNvSpPr/>
          <p:nvPr/>
        </p:nvSpPr>
        <p:spPr>
          <a:xfrm>
            <a:off x="9144000" y="1828800"/>
            <a:ext cx="2148840" cy="274320"/>
          </a:xfrm>
          <a:prstGeom prst="rect">
            <a:avLst/>
          </a:prstGeom>
          <a:noFill/>
          <a:ln/>
        </p:spPr>
        <p:txBody>
          <a:bodyPr wrap="square" lIns="0" tIns="0" rIns="0" bIns="0" rtlCol="0" anchor="ctr"/>
          <a:lstStyle/>
          <a:p>
            <a:pPr indent="0" marL="0">
              <a:buNone/>
            </a:pPr>
            <a:r>
              <a:rPr lang="en-US" sz="1800" b="1" dirty="0">
                <a:solidFill>
                  <a:srgbClr val="67E8F9"/>
                </a:solidFill>
              </a:rPr>
              <a:t>Objectif V3</a:t>
            </a:r>
            <a:endParaRPr lang="en-US" sz="1800" dirty="0"/>
          </a:p>
        </p:txBody>
      </p:sp>
      <p:sp>
        <p:nvSpPr>
          <p:cNvPr id="15" name="Text 13"/>
          <p:cNvSpPr/>
          <p:nvPr/>
        </p:nvSpPr>
        <p:spPr>
          <a:xfrm>
            <a:off x="9144000" y="2331720"/>
            <a:ext cx="2148840" cy="1298448"/>
          </a:xfrm>
          <a:prstGeom prst="rect">
            <a:avLst/>
          </a:prstGeom>
          <a:noFill/>
          <a:ln/>
        </p:spPr>
        <p:txBody>
          <a:bodyPr wrap="square" lIns="254" tIns="254" rIns="254" bIns="254" rtlCol="0" anchor="ctr">
            <a:normAutofit/>
          </a:bodyPr>
          <a:lstStyle/>
          <a:p>
            <a:pPr indent="0" marL="0">
              <a:buNone/>
            </a:pPr>
            <a:r>
              <a:rPr lang="en-US" sz="1320" dirty="0">
                <a:solidFill>
                  <a:srgbClr val="F4F7FB"/>
                </a:solidFill>
              </a:rPr>
              <a:t>Décrire une architecture de recherche qui peut être reliée aux modules Kinetic sans transformer l’idée en plan de construction réel.</a:t>
            </a:r>
            <a:endParaRPr lang="en-US" sz="1320" dirty="0"/>
          </a:p>
        </p:txBody>
      </p:sp>
      <p:sp>
        <p:nvSpPr>
          <p:cNvPr id="16" name="Text 14"/>
          <p:cNvSpPr/>
          <p:nvPr/>
        </p:nvSpPr>
        <p:spPr>
          <a:xfrm>
            <a:off x="9144000" y="4160520"/>
            <a:ext cx="2148840" cy="658368"/>
          </a:xfrm>
          <a:prstGeom prst="rect">
            <a:avLst/>
          </a:prstGeom>
          <a:noFill/>
          <a:ln/>
        </p:spPr>
        <p:txBody>
          <a:bodyPr wrap="square" lIns="254" tIns="254" rIns="254" bIns="254" rtlCol="0" anchor="ctr">
            <a:normAutofit/>
          </a:bodyPr>
          <a:lstStyle/>
          <a:p>
            <a:pPr indent="0" marL="0">
              <a:buNone/>
            </a:pPr>
            <a:r>
              <a:rPr lang="en-US" sz="1220" dirty="0">
                <a:solidFill>
                  <a:srgbClr val="B5C0CE"/>
                </a:solidFill>
              </a:rPr>
              <a:t>Livrable : scénario numérique, lexique, contraintes, risques, preuves de cohérence.</a:t>
            </a:r>
            <a:endParaRPr lang="en-US" sz="1220" dirty="0"/>
          </a:p>
        </p:txBody>
      </p:sp>
      <p:sp>
        <p:nvSpPr>
          <p:cNvPr id="17" name="Text 15"/>
          <p:cNvSpPr/>
          <p:nvPr/>
        </p:nvSpPr>
        <p:spPr>
          <a:xfrm>
            <a:off x="502920" y="6473952"/>
            <a:ext cx="6675120" cy="228600"/>
          </a:xfrm>
          <a:prstGeom prst="rect">
            <a:avLst/>
          </a:prstGeom>
          <a:noFill/>
          <a:ln/>
        </p:spPr>
        <p:txBody>
          <a:bodyPr wrap="square" lIns="0" tIns="0" rIns="0" bIns="0" rtlCol="0" anchor="ctr"/>
          <a:lstStyle/>
          <a:p>
            <a:pPr indent="0" marL="0">
              <a:buNone/>
            </a:pPr>
            <a:r>
              <a:rPr lang="en-US" sz="850" dirty="0">
                <a:solidFill>
                  <a:srgbClr val="7891AD"/>
                </a:solidFill>
              </a:rPr>
              <a:t>AIONE · Kinetic Digital Package · version recherche non-physique</a:t>
            </a:r>
            <a:endParaRPr lang="en-US" sz="850" dirty="0"/>
          </a:p>
        </p:txBody>
      </p:sp>
      <p:sp>
        <p:nvSpPr>
          <p:cNvPr id="18" name="Text 16"/>
          <p:cNvSpPr/>
          <p:nvPr/>
        </p:nvSpPr>
        <p:spPr>
          <a:xfrm>
            <a:off x="11292840" y="6419088"/>
            <a:ext cx="384048" cy="237744"/>
          </a:xfrm>
          <a:prstGeom prst="rect">
            <a:avLst/>
          </a:prstGeom>
          <a:noFill/>
          <a:ln/>
        </p:spPr>
        <p:txBody>
          <a:bodyPr wrap="square" lIns="0" tIns="0" rIns="0" bIns="0" rtlCol="0" anchor="ctr"/>
          <a:lstStyle/>
          <a:p>
            <a:pPr algn="r" indent="0" marL="0">
              <a:buNone/>
            </a:pPr>
            <a:r>
              <a:rPr lang="en-US" sz="900" b="1" dirty="0">
                <a:solidFill>
                  <a:srgbClr val="67E8F9"/>
                </a:solidFill>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solidFill>
            <a:prstDash val="solid"/>
          </a:ln>
        </p:spPr>
      </p:sp>
      <p:sp>
        <p:nvSpPr>
          <p:cNvPr id="3" name="Shape 1"/>
          <p:cNvSpPr/>
          <p:nvPr/>
        </p:nvSpPr>
        <p:spPr>
          <a:xfrm>
            <a:off x="228600" y="228600"/>
            <a:ext cx="11734495" cy="6400800"/>
          </a:xfrm>
          <a:prstGeom prst="rect">
            <a:avLst/>
          </a:prstGeom>
          <a:solidFill>
            <a:srgbClr val="08111F">
              <a:alpha val="0"/>
            </a:srgbClr>
          </a:solidFill>
          <a:ln w="12700">
            <a:solidFill>
              <a:srgbClr val="203A59">
                <a:alpha val="70000"/>
              </a:srgbClr>
            </a:solidFill>
            <a:prstDash val="solid"/>
          </a:ln>
        </p:spPr>
      </p:sp>
      <p:sp>
        <p:nvSpPr>
          <p:cNvPr id="4" name="Text 2"/>
          <p:cNvSpPr/>
          <p:nvPr/>
        </p:nvSpPr>
        <p:spPr>
          <a:xfrm>
            <a:off x="502920" y="384048"/>
            <a:ext cx="7863840" cy="438912"/>
          </a:xfrm>
          <a:prstGeom prst="rect">
            <a:avLst/>
          </a:prstGeom>
          <a:noFill/>
          <a:ln/>
        </p:spPr>
        <p:txBody>
          <a:bodyPr wrap="square" lIns="0" tIns="0" rIns="0" bIns="0" rtlCol="0" anchor="ctr"/>
          <a:lstStyle/>
          <a:p>
            <a:pPr indent="0" marL="0">
              <a:buNone/>
            </a:pPr>
            <a:r>
              <a:rPr lang="en-US" sz="3000" b="1" dirty="0">
                <a:solidFill>
                  <a:srgbClr val="F4F7FB"/>
                </a:solidFill>
                <a:latin typeface="Aptos Display" pitchFamily="34" charset="0"/>
                <a:ea typeface="Aptos Display" pitchFamily="34" charset="-122"/>
                <a:cs typeface="Aptos Display" pitchFamily="34" charset="-120"/>
              </a:rPr>
              <a:t>2 · Architecture conceptuelle</a:t>
            </a:r>
            <a:endParaRPr lang="en-US" sz="3000" dirty="0"/>
          </a:p>
        </p:txBody>
      </p:sp>
      <p:sp>
        <p:nvSpPr>
          <p:cNvPr id="5" name="Text 3"/>
          <p:cNvSpPr/>
          <p:nvPr/>
        </p:nvSpPr>
        <p:spPr>
          <a:xfrm>
            <a:off x="530352" y="877824"/>
            <a:ext cx="8046720" cy="274320"/>
          </a:xfrm>
          <a:prstGeom prst="rect">
            <a:avLst/>
          </a:prstGeom>
          <a:noFill/>
          <a:ln/>
        </p:spPr>
        <p:txBody>
          <a:bodyPr wrap="square" lIns="0" tIns="0" rIns="0" bIns="0" rtlCol="0" anchor="ctr"/>
          <a:lstStyle/>
          <a:p>
            <a:pPr indent="0" marL="0">
              <a:buNone/>
            </a:pPr>
            <a:r>
              <a:rPr lang="en-US" sz="1250" dirty="0">
                <a:solidFill>
                  <a:srgbClr val="B5C0CE"/>
                </a:solidFill>
              </a:rPr>
              <a:t>Une lecture en couches : noyau, champ, enveloppe, observabilité.</a:t>
            </a:r>
            <a:endParaRPr lang="en-US" sz="1250" dirty="0"/>
          </a:p>
        </p:txBody>
      </p:sp>
      <p:sp>
        <p:nvSpPr>
          <p:cNvPr id="6" name="Shape 4"/>
          <p:cNvSpPr/>
          <p:nvPr/>
        </p:nvSpPr>
        <p:spPr>
          <a:xfrm>
            <a:off x="914400" y="1828800"/>
            <a:ext cx="4023360" cy="3657600"/>
          </a:xfrm>
          <a:prstGeom prst="ellipse">
            <a:avLst/>
          </a:prstGeom>
          <a:solidFill>
            <a:srgbClr val="60A5FA">
              <a:alpha val="12000"/>
            </a:srgbClr>
          </a:solidFill>
          <a:ln w="12700">
            <a:solidFill>
              <a:srgbClr val="60A5FA"/>
            </a:solidFill>
            <a:prstDash val="solid"/>
          </a:ln>
        </p:spPr>
      </p:sp>
      <p:sp>
        <p:nvSpPr>
          <p:cNvPr id="7" name="Shape 5"/>
          <p:cNvSpPr/>
          <p:nvPr/>
        </p:nvSpPr>
        <p:spPr>
          <a:xfrm>
            <a:off x="1463040" y="2267712"/>
            <a:ext cx="2926080" cy="2743200"/>
          </a:xfrm>
          <a:prstGeom prst="ellipse">
            <a:avLst/>
          </a:prstGeom>
          <a:solidFill>
            <a:srgbClr val="A78BFA">
              <a:alpha val="18000"/>
            </a:srgbClr>
          </a:solidFill>
          <a:ln w="12700">
            <a:solidFill>
              <a:srgbClr val="A78BFA"/>
            </a:solidFill>
            <a:prstDash val="solid"/>
          </a:ln>
        </p:spPr>
      </p:sp>
      <p:sp>
        <p:nvSpPr>
          <p:cNvPr id="8" name="Shape 6"/>
          <p:cNvSpPr/>
          <p:nvPr/>
        </p:nvSpPr>
        <p:spPr>
          <a:xfrm>
            <a:off x="2084832" y="2788920"/>
            <a:ext cx="1682496" cy="1691640"/>
          </a:xfrm>
          <a:prstGeom prst="ellipse">
            <a:avLst/>
          </a:prstGeom>
          <a:solidFill>
            <a:srgbClr val="67E8F9">
              <a:alpha val="72000"/>
            </a:srgbClr>
          </a:solidFill>
          <a:ln w="12700">
            <a:solidFill>
              <a:srgbClr val="67E8F9"/>
            </a:solidFill>
            <a:prstDash val="solid"/>
          </a:ln>
        </p:spPr>
      </p:sp>
      <p:sp>
        <p:nvSpPr>
          <p:cNvPr id="9" name="Text 7"/>
          <p:cNvSpPr/>
          <p:nvPr/>
        </p:nvSpPr>
        <p:spPr>
          <a:xfrm>
            <a:off x="2542032" y="3429000"/>
            <a:ext cx="758952" cy="210312"/>
          </a:xfrm>
          <a:prstGeom prst="rect">
            <a:avLst/>
          </a:prstGeom>
          <a:noFill/>
          <a:ln/>
        </p:spPr>
        <p:txBody>
          <a:bodyPr wrap="square" lIns="0" tIns="0" rIns="0" bIns="0" rtlCol="0" anchor="ctr"/>
          <a:lstStyle/>
          <a:p>
            <a:pPr algn="ctr" indent="0" marL="0">
              <a:buNone/>
            </a:pPr>
            <a:r>
              <a:rPr lang="en-US" sz="1600" b="1" dirty="0">
                <a:solidFill>
                  <a:srgbClr val="F4F7FB"/>
                </a:solidFill>
              </a:rPr>
              <a:t>NOX</a:t>
            </a:r>
            <a:endParaRPr lang="en-US" sz="1600" dirty="0"/>
          </a:p>
        </p:txBody>
      </p:sp>
      <p:sp>
        <p:nvSpPr>
          <p:cNvPr id="10" name="Shape 8"/>
          <p:cNvSpPr/>
          <p:nvPr/>
        </p:nvSpPr>
        <p:spPr>
          <a:xfrm>
            <a:off x="5577840" y="1554480"/>
            <a:ext cx="2286000" cy="731520"/>
          </a:xfrm>
          <a:prstGeom prst="roundRect">
            <a:avLst>
              <a:gd name="adj" fmla="val 15000"/>
            </a:avLst>
          </a:prstGeom>
          <a:solidFill>
            <a:srgbClr val="67E8F9">
              <a:alpha val="92000"/>
            </a:srgbClr>
          </a:solidFill>
          <a:ln w="12700">
            <a:solidFill>
              <a:srgbClr val="67E8F9"/>
            </a:solidFill>
            <a:prstDash val="solid"/>
          </a:ln>
        </p:spPr>
      </p:sp>
      <p:sp>
        <p:nvSpPr>
          <p:cNvPr id="11" name="Text 9"/>
          <p:cNvSpPr/>
          <p:nvPr/>
        </p:nvSpPr>
        <p:spPr>
          <a:xfrm>
            <a:off x="5687568" y="1645920"/>
            <a:ext cx="2066544" cy="548640"/>
          </a:xfrm>
          <a:prstGeom prst="rect">
            <a:avLst/>
          </a:prstGeom>
          <a:noFill/>
          <a:ln/>
        </p:spPr>
        <p:txBody>
          <a:bodyPr wrap="square" lIns="0" tIns="0" rIns="0" bIns="0" rtlCol="0" anchor="ctr"/>
          <a:lstStyle/>
          <a:p>
            <a:pPr algn="ctr" indent="0" marL="0">
              <a:buNone/>
            </a:pPr>
            <a:r>
              <a:rPr lang="en-US" sz="1200" b="1" dirty="0">
                <a:solidFill>
                  <a:srgbClr val="F4F7FB"/>
                </a:solidFill>
              </a:rPr>
              <a:t>Noyau NOX</a:t>
            </a:r>
            <a:endParaRPr lang="en-US" sz="1200" dirty="0"/>
          </a:p>
          <a:p>
            <a:pPr algn="ctr" indent="0" marL="0">
              <a:buNone/>
            </a:pPr>
            <a:r>
              <a:rPr lang="en-US" sz="1200" b="1" dirty="0">
                <a:solidFill>
                  <a:srgbClr val="F4F7FB"/>
                </a:solidFill>
              </a:rPr>
              <a:t>source hypothétique</a:t>
            </a:r>
            <a:endParaRPr lang="en-US" sz="1200" dirty="0"/>
          </a:p>
        </p:txBody>
      </p:sp>
      <p:sp>
        <p:nvSpPr>
          <p:cNvPr id="12" name="Shape 10"/>
          <p:cNvSpPr/>
          <p:nvPr/>
        </p:nvSpPr>
        <p:spPr>
          <a:xfrm>
            <a:off x="8321040" y="2423160"/>
            <a:ext cx="2331720" cy="731520"/>
          </a:xfrm>
          <a:prstGeom prst="roundRect">
            <a:avLst>
              <a:gd name="adj" fmla="val 15000"/>
            </a:avLst>
          </a:prstGeom>
          <a:solidFill>
            <a:srgbClr val="60A5FA">
              <a:alpha val="92000"/>
            </a:srgbClr>
          </a:solidFill>
          <a:ln w="12700">
            <a:solidFill>
              <a:srgbClr val="60A5FA"/>
            </a:solidFill>
            <a:prstDash val="solid"/>
          </a:ln>
        </p:spPr>
      </p:sp>
      <p:sp>
        <p:nvSpPr>
          <p:cNvPr id="13" name="Text 11"/>
          <p:cNvSpPr/>
          <p:nvPr/>
        </p:nvSpPr>
        <p:spPr>
          <a:xfrm>
            <a:off x="8430768" y="2514600"/>
            <a:ext cx="2112264" cy="548640"/>
          </a:xfrm>
          <a:prstGeom prst="rect">
            <a:avLst/>
          </a:prstGeom>
          <a:noFill/>
          <a:ln/>
        </p:spPr>
        <p:txBody>
          <a:bodyPr wrap="square" lIns="0" tIns="0" rIns="0" bIns="0" rtlCol="0" anchor="ctr"/>
          <a:lstStyle/>
          <a:p>
            <a:pPr algn="ctr" indent="0" marL="0">
              <a:buNone/>
            </a:pPr>
            <a:r>
              <a:rPr lang="en-US" sz="1200" b="1" dirty="0">
                <a:solidFill>
                  <a:srgbClr val="F4F7FB"/>
                </a:solidFill>
              </a:rPr>
              <a:t>Champ froid</a:t>
            </a:r>
            <a:endParaRPr lang="en-US" sz="1200" dirty="0"/>
          </a:p>
          <a:p>
            <a:pPr algn="ctr" indent="0" marL="0">
              <a:buNone/>
            </a:pPr>
            <a:r>
              <a:rPr lang="en-US" sz="1200" b="1" dirty="0">
                <a:solidFill>
                  <a:srgbClr val="F4F7FB"/>
                </a:solidFill>
              </a:rPr>
              <a:t>transition abstraite</a:t>
            </a:r>
            <a:endParaRPr lang="en-US" sz="1200" dirty="0"/>
          </a:p>
        </p:txBody>
      </p:sp>
      <p:sp>
        <p:nvSpPr>
          <p:cNvPr id="14" name="Shape 12"/>
          <p:cNvSpPr/>
          <p:nvPr/>
        </p:nvSpPr>
        <p:spPr>
          <a:xfrm>
            <a:off x="5577840" y="3337560"/>
            <a:ext cx="2286000" cy="731520"/>
          </a:xfrm>
          <a:prstGeom prst="roundRect">
            <a:avLst>
              <a:gd name="adj" fmla="val 15000"/>
            </a:avLst>
          </a:prstGeom>
          <a:solidFill>
            <a:srgbClr val="A78BFA">
              <a:alpha val="92000"/>
            </a:srgbClr>
          </a:solidFill>
          <a:ln w="12700">
            <a:solidFill>
              <a:srgbClr val="A78BFA"/>
            </a:solidFill>
            <a:prstDash val="solid"/>
          </a:ln>
        </p:spPr>
      </p:sp>
      <p:sp>
        <p:nvSpPr>
          <p:cNvPr id="15" name="Text 13"/>
          <p:cNvSpPr/>
          <p:nvPr/>
        </p:nvSpPr>
        <p:spPr>
          <a:xfrm>
            <a:off x="5687568" y="3429000"/>
            <a:ext cx="2066544" cy="548640"/>
          </a:xfrm>
          <a:prstGeom prst="rect">
            <a:avLst/>
          </a:prstGeom>
          <a:noFill/>
          <a:ln/>
        </p:spPr>
        <p:txBody>
          <a:bodyPr wrap="square" lIns="0" tIns="0" rIns="0" bIns="0" rtlCol="0" anchor="ctr"/>
          <a:lstStyle/>
          <a:p>
            <a:pPr algn="ctr" indent="0" marL="0">
              <a:buNone/>
            </a:pPr>
            <a:r>
              <a:rPr lang="en-US" sz="1200" b="1" dirty="0">
                <a:solidFill>
                  <a:srgbClr val="F4F7FB"/>
                </a:solidFill>
              </a:rPr>
              <a:t>Enveloppe cinétique</a:t>
            </a:r>
            <a:endParaRPr lang="en-US" sz="1200" dirty="0"/>
          </a:p>
          <a:p>
            <a:pPr algn="ctr" indent="0" marL="0">
              <a:buNone/>
            </a:pPr>
            <a:r>
              <a:rPr lang="en-US" sz="1200" b="1" dirty="0">
                <a:solidFill>
                  <a:srgbClr val="F4F7FB"/>
                </a:solidFill>
              </a:rPr>
              <a:t>interface Kinetic</a:t>
            </a:r>
            <a:endParaRPr lang="en-US" sz="1200" dirty="0"/>
          </a:p>
        </p:txBody>
      </p:sp>
      <p:sp>
        <p:nvSpPr>
          <p:cNvPr id="16" name="Shape 14"/>
          <p:cNvSpPr/>
          <p:nvPr/>
        </p:nvSpPr>
        <p:spPr>
          <a:xfrm>
            <a:off x="8321040" y="4224528"/>
            <a:ext cx="2331720" cy="731520"/>
          </a:xfrm>
          <a:prstGeom prst="roundRect">
            <a:avLst>
              <a:gd name="adj" fmla="val 15000"/>
            </a:avLst>
          </a:prstGeom>
          <a:solidFill>
            <a:srgbClr val="86EFAC">
              <a:alpha val="92000"/>
            </a:srgbClr>
          </a:solidFill>
          <a:ln w="12700">
            <a:solidFill>
              <a:srgbClr val="86EFAC"/>
            </a:solidFill>
            <a:prstDash val="solid"/>
          </a:ln>
        </p:spPr>
      </p:sp>
      <p:sp>
        <p:nvSpPr>
          <p:cNvPr id="17" name="Text 15"/>
          <p:cNvSpPr/>
          <p:nvPr/>
        </p:nvSpPr>
        <p:spPr>
          <a:xfrm>
            <a:off x="8430768" y="4315968"/>
            <a:ext cx="2112264" cy="548640"/>
          </a:xfrm>
          <a:prstGeom prst="rect">
            <a:avLst/>
          </a:prstGeom>
          <a:noFill/>
          <a:ln/>
        </p:spPr>
        <p:txBody>
          <a:bodyPr wrap="square" lIns="0" tIns="0" rIns="0" bIns="0" rtlCol="0" anchor="ctr"/>
          <a:lstStyle/>
          <a:p>
            <a:pPr algn="ctr" indent="0" marL="0">
              <a:buNone/>
            </a:pPr>
            <a:r>
              <a:rPr lang="en-US" sz="1200" b="1" dirty="0">
                <a:solidFill>
                  <a:srgbClr val="F4F7FB"/>
                </a:solidFill>
              </a:rPr>
              <a:t>Observabilité</a:t>
            </a:r>
            <a:endParaRPr lang="en-US" sz="1200" dirty="0"/>
          </a:p>
          <a:p>
            <a:pPr algn="ctr" indent="0" marL="0">
              <a:buNone/>
            </a:pPr>
            <a:r>
              <a:rPr lang="en-US" sz="1200" b="1" dirty="0">
                <a:solidFill>
                  <a:srgbClr val="F4F7FB"/>
                </a:solidFill>
              </a:rPr>
              <a:t>logs + métriques</a:t>
            </a:r>
            <a:endParaRPr lang="en-US" sz="1200" dirty="0"/>
          </a:p>
        </p:txBody>
      </p:sp>
      <p:sp>
        <p:nvSpPr>
          <p:cNvPr id="18" name="Shape 16"/>
          <p:cNvSpPr/>
          <p:nvPr/>
        </p:nvSpPr>
        <p:spPr>
          <a:xfrm>
            <a:off x="7882128" y="1920240"/>
            <a:ext cx="365760" cy="795528"/>
          </a:xfrm>
          <a:prstGeom prst="line">
            <a:avLst/>
          </a:prstGeom>
          <a:noFill/>
          <a:ln w="12700">
            <a:solidFill>
              <a:srgbClr val="59708C"/>
            </a:solidFill>
            <a:prstDash val="solid"/>
            <a:headEnd type="none"/>
            <a:tailEnd type="triangle"/>
          </a:ln>
        </p:spPr>
      </p:sp>
      <p:sp>
        <p:nvSpPr>
          <p:cNvPr id="19" name="Shape 17"/>
          <p:cNvSpPr/>
          <p:nvPr/>
        </p:nvSpPr>
        <p:spPr>
          <a:xfrm>
            <a:off x="8229600" y="3246120"/>
            <a:ext cx="-320040" cy="374904"/>
          </a:xfrm>
          <a:prstGeom prst="line">
            <a:avLst/>
          </a:prstGeom>
          <a:noFill/>
          <a:ln w="12700">
            <a:solidFill>
              <a:srgbClr val="59708C"/>
            </a:solidFill>
            <a:prstDash val="solid"/>
            <a:headEnd type="none"/>
            <a:tailEnd type="triangle"/>
          </a:ln>
        </p:spPr>
      </p:sp>
      <p:sp>
        <p:nvSpPr>
          <p:cNvPr id="20" name="Shape 18"/>
          <p:cNvSpPr/>
          <p:nvPr/>
        </p:nvSpPr>
        <p:spPr>
          <a:xfrm>
            <a:off x="7882128" y="3730752"/>
            <a:ext cx="365760" cy="777240"/>
          </a:xfrm>
          <a:prstGeom prst="line">
            <a:avLst/>
          </a:prstGeom>
          <a:noFill/>
          <a:ln w="12700">
            <a:solidFill>
              <a:srgbClr val="59708C"/>
            </a:solidFill>
            <a:prstDash val="solid"/>
            <a:headEnd type="none"/>
            <a:tailEnd type="triangle"/>
          </a:ln>
        </p:spPr>
      </p:sp>
      <p:sp>
        <p:nvSpPr>
          <p:cNvPr id="21" name="Text 19"/>
          <p:cNvSpPr/>
          <p:nvPr/>
        </p:nvSpPr>
        <p:spPr>
          <a:xfrm>
            <a:off x="822960" y="5806440"/>
            <a:ext cx="1645920" cy="237744"/>
          </a:xfrm>
          <a:prstGeom prst="rect">
            <a:avLst/>
          </a:prstGeom>
          <a:noFill/>
          <a:ln/>
        </p:spPr>
        <p:txBody>
          <a:bodyPr wrap="square" lIns="0" tIns="0" rIns="0" bIns="0" rtlCol="0" anchor="ctr"/>
          <a:lstStyle/>
          <a:p>
            <a:pPr indent="0" marL="0">
              <a:buNone/>
            </a:pPr>
            <a:r>
              <a:rPr lang="en-US" sz="1300" b="1" dirty="0">
                <a:solidFill>
                  <a:srgbClr val="FCD34D"/>
                </a:solidFill>
              </a:rPr>
              <a:t>Point important</a:t>
            </a:r>
            <a:endParaRPr lang="en-US" sz="1300" dirty="0"/>
          </a:p>
        </p:txBody>
      </p:sp>
      <p:sp>
        <p:nvSpPr>
          <p:cNvPr id="22" name="Text 20"/>
          <p:cNvSpPr/>
          <p:nvPr/>
        </p:nvSpPr>
        <p:spPr>
          <a:xfrm>
            <a:off x="2606040" y="5806440"/>
            <a:ext cx="7680960" cy="246888"/>
          </a:xfrm>
          <a:prstGeom prst="rect">
            <a:avLst/>
          </a:prstGeom>
          <a:noFill/>
          <a:ln/>
        </p:spPr>
        <p:txBody>
          <a:bodyPr wrap="square" lIns="0" tIns="0" rIns="0" bIns="0" rtlCol="0" anchor="ctr"/>
          <a:lstStyle/>
          <a:p>
            <a:pPr indent="0" marL="0">
              <a:buNone/>
            </a:pPr>
            <a:r>
              <a:rPr lang="en-US" sz="1200" dirty="0">
                <a:solidFill>
                  <a:srgbClr val="B5C0CE"/>
                </a:solidFill>
              </a:rPr>
              <a:t>Le schéma est une carte de recherche numérique : il ne contient aucun dimensionnement ni procédé de fabrication.</a:t>
            </a:r>
            <a:endParaRPr lang="en-US" sz="1200" dirty="0"/>
          </a:p>
        </p:txBody>
      </p:sp>
      <p:sp>
        <p:nvSpPr>
          <p:cNvPr id="23" name="Text 21"/>
          <p:cNvSpPr/>
          <p:nvPr/>
        </p:nvSpPr>
        <p:spPr>
          <a:xfrm>
            <a:off x="502920" y="6473952"/>
            <a:ext cx="6675120" cy="228600"/>
          </a:xfrm>
          <a:prstGeom prst="rect">
            <a:avLst/>
          </a:prstGeom>
          <a:noFill/>
          <a:ln/>
        </p:spPr>
        <p:txBody>
          <a:bodyPr wrap="square" lIns="0" tIns="0" rIns="0" bIns="0" rtlCol="0" anchor="ctr"/>
          <a:lstStyle/>
          <a:p>
            <a:pPr indent="0" marL="0">
              <a:buNone/>
            </a:pPr>
            <a:r>
              <a:rPr lang="en-US" sz="850" dirty="0">
                <a:solidFill>
                  <a:srgbClr val="7891AD"/>
                </a:solidFill>
              </a:rPr>
              <a:t>AIONE · Kinetic Digital Package · version recherche non-physique</a:t>
            </a:r>
            <a:endParaRPr lang="en-US" sz="850" dirty="0"/>
          </a:p>
        </p:txBody>
      </p:sp>
      <p:sp>
        <p:nvSpPr>
          <p:cNvPr id="24" name="Text 22"/>
          <p:cNvSpPr/>
          <p:nvPr/>
        </p:nvSpPr>
        <p:spPr>
          <a:xfrm>
            <a:off x="11292840" y="6419088"/>
            <a:ext cx="384048" cy="237744"/>
          </a:xfrm>
          <a:prstGeom prst="rect">
            <a:avLst/>
          </a:prstGeom>
          <a:noFill/>
          <a:ln/>
        </p:spPr>
        <p:txBody>
          <a:bodyPr wrap="square" lIns="0" tIns="0" rIns="0" bIns="0" rtlCol="0" anchor="ctr"/>
          <a:lstStyle/>
          <a:p>
            <a:pPr algn="r" indent="0" marL="0">
              <a:buNone/>
            </a:pPr>
            <a:r>
              <a:rPr lang="en-US" sz="900" b="1" dirty="0">
                <a:solidFill>
                  <a:srgbClr val="67E8F9"/>
                </a:solidFill>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solidFill>
            <a:prstDash val="solid"/>
          </a:ln>
        </p:spPr>
      </p:sp>
      <p:sp>
        <p:nvSpPr>
          <p:cNvPr id="3" name="Shape 1"/>
          <p:cNvSpPr/>
          <p:nvPr/>
        </p:nvSpPr>
        <p:spPr>
          <a:xfrm>
            <a:off x="228600" y="228600"/>
            <a:ext cx="11734495" cy="6400800"/>
          </a:xfrm>
          <a:prstGeom prst="rect">
            <a:avLst/>
          </a:prstGeom>
          <a:solidFill>
            <a:srgbClr val="08111F">
              <a:alpha val="0"/>
            </a:srgbClr>
          </a:solidFill>
          <a:ln w="12700">
            <a:solidFill>
              <a:srgbClr val="203A59">
                <a:alpha val="70000"/>
              </a:srgbClr>
            </a:solidFill>
            <a:prstDash val="solid"/>
          </a:ln>
        </p:spPr>
      </p:sp>
      <p:sp>
        <p:nvSpPr>
          <p:cNvPr id="4" name="Text 2"/>
          <p:cNvSpPr/>
          <p:nvPr/>
        </p:nvSpPr>
        <p:spPr>
          <a:xfrm>
            <a:off x="502920" y="384048"/>
            <a:ext cx="7863840" cy="438912"/>
          </a:xfrm>
          <a:prstGeom prst="rect">
            <a:avLst/>
          </a:prstGeom>
          <a:noFill/>
          <a:ln/>
        </p:spPr>
        <p:txBody>
          <a:bodyPr wrap="square" lIns="0" tIns="0" rIns="0" bIns="0" rtlCol="0" anchor="ctr"/>
          <a:lstStyle/>
          <a:p>
            <a:pPr indent="0" marL="0">
              <a:buNone/>
            </a:pPr>
            <a:r>
              <a:rPr lang="en-US" sz="3000" b="1" dirty="0">
                <a:solidFill>
                  <a:srgbClr val="F4F7FB"/>
                </a:solidFill>
                <a:latin typeface="Aptos Display" pitchFamily="34" charset="0"/>
                <a:ea typeface="Aptos Display" pitchFamily="34" charset="-122"/>
                <a:cs typeface="Aptos Display" pitchFamily="34" charset="-120"/>
              </a:rPr>
              <a:t>3 · Intégration dans le ZIP Kinetic</a:t>
            </a:r>
            <a:endParaRPr lang="en-US" sz="3000" dirty="0"/>
          </a:p>
        </p:txBody>
      </p:sp>
      <p:sp>
        <p:nvSpPr>
          <p:cNvPr id="5" name="Text 3"/>
          <p:cNvSpPr/>
          <p:nvPr/>
        </p:nvSpPr>
        <p:spPr>
          <a:xfrm>
            <a:off x="530352" y="877824"/>
            <a:ext cx="8046720" cy="274320"/>
          </a:xfrm>
          <a:prstGeom prst="rect">
            <a:avLst/>
          </a:prstGeom>
          <a:noFill/>
          <a:ln/>
        </p:spPr>
        <p:txBody>
          <a:bodyPr wrap="square" lIns="0" tIns="0" rIns="0" bIns="0" rtlCol="0" anchor="ctr"/>
          <a:lstStyle/>
          <a:p>
            <a:pPr indent="0" marL="0">
              <a:buNone/>
            </a:pPr>
            <a:r>
              <a:rPr lang="en-US" sz="1250" dirty="0">
                <a:solidFill>
                  <a:srgbClr val="B5C0CE"/>
                </a:solidFill>
              </a:rPr>
              <a:t>Transformer un concept en objet de projet vérifiable.</a:t>
            </a:r>
            <a:endParaRPr lang="en-US" sz="1250" dirty="0"/>
          </a:p>
        </p:txBody>
      </p:sp>
      <p:sp>
        <p:nvSpPr>
          <p:cNvPr id="6" name="Shape 4"/>
          <p:cNvSpPr/>
          <p:nvPr/>
        </p:nvSpPr>
        <p:spPr>
          <a:xfrm>
            <a:off x="777240" y="1828800"/>
            <a:ext cx="2057400" cy="822960"/>
          </a:xfrm>
          <a:prstGeom prst="roundRect">
            <a:avLst>
              <a:gd name="adj" fmla="val 13333"/>
            </a:avLst>
          </a:prstGeom>
          <a:solidFill>
            <a:srgbClr val="A78BFA">
              <a:alpha val="92000"/>
            </a:srgbClr>
          </a:solidFill>
          <a:ln w="12700">
            <a:solidFill>
              <a:srgbClr val="A78BFA"/>
            </a:solidFill>
            <a:prstDash val="solid"/>
          </a:ln>
        </p:spPr>
      </p:sp>
      <p:sp>
        <p:nvSpPr>
          <p:cNvPr id="7" name="Text 5"/>
          <p:cNvSpPr/>
          <p:nvPr/>
        </p:nvSpPr>
        <p:spPr>
          <a:xfrm>
            <a:off x="886968" y="1920240"/>
            <a:ext cx="1837944" cy="640080"/>
          </a:xfrm>
          <a:prstGeom prst="rect">
            <a:avLst/>
          </a:prstGeom>
          <a:noFill/>
          <a:ln/>
        </p:spPr>
        <p:txBody>
          <a:bodyPr wrap="square" lIns="0" tIns="0" rIns="0" bIns="0" rtlCol="0" anchor="ctr"/>
          <a:lstStyle/>
          <a:p>
            <a:pPr algn="ctr" indent="0" marL="0">
              <a:buNone/>
            </a:pPr>
            <a:r>
              <a:rPr lang="en-US" sz="1200" b="1" dirty="0">
                <a:solidFill>
                  <a:srgbClr val="F4F7FB"/>
                </a:solidFill>
              </a:rPr>
              <a:t>Travail de recherche</a:t>
            </a:r>
            <a:endParaRPr lang="en-US" sz="1200" dirty="0"/>
          </a:p>
          <a:p>
            <a:pPr algn="ctr" indent="0" marL="0">
              <a:buNone/>
            </a:pPr>
            <a:r>
              <a:rPr lang="en-US" sz="1200" b="1" dirty="0">
                <a:solidFill>
                  <a:srgbClr val="F4F7FB"/>
                </a:solidFill>
              </a:rPr>
              <a:t>« distorsion froide »</a:t>
            </a:r>
            <a:endParaRPr lang="en-US" sz="1200" dirty="0"/>
          </a:p>
        </p:txBody>
      </p:sp>
      <p:sp>
        <p:nvSpPr>
          <p:cNvPr id="8" name="Shape 6"/>
          <p:cNvSpPr/>
          <p:nvPr/>
        </p:nvSpPr>
        <p:spPr>
          <a:xfrm>
            <a:off x="3337560" y="1828800"/>
            <a:ext cx="1874520" cy="822960"/>
          </a:xfrm>
          <a:prstGeom prst="roundRect">
            <a:avLst>
              <a:gd name="adj" fmla="val 13333"/>
            </a:avLst>
          </a:prstGeom>
          <a:solidFill>
            <a:srgbClr val="60A5FA">
              <a:alpha val="92000"/>
            </a:srgbClr>
          </a:solidFill>
          <a:ln w="12700">
            <a:solidFill>
              <a:srgbClr val="60A5FA"/>
            </a:solidFill>
            <a:prstDash val="solid"/>
          </a:ln>
        </p:spPr>
      </p:sp>
      <p:sp>
        <p:nvSpPr>
          <p:cNvPr id="9" name="Text 7"/>
          <p:cNvSpPr/>
          <p:nvPr/>
        </p:nvSpPr>
        <p:spPr>
          <a:xfrm>
            <a:off x="3447288" y="1920240"/>
            <a:ext cx="1655064" cy="640080"/>
          </a:xfrm>
          <a:prstGeom prst="rect">
            <a:avLst/>
          </a:prstGeom>
          <a:noFill/>
          <a:ln/>
        </p:spPr>
        <p:txBody>
          <a:bodyPr wrap="square" lIns="0" tIns="0" rIns="0" bIns="0" rtlCol="0" anchor="ctr"/>
          <a:lstStyle/>
          <a:p>
            <a:pPr algn="ctr" indent="0" marL="0">
              <a:buNone/>
            </a:pPr>
            <a:r>
              <a:rPr lang="en-US" sz="1200" b="1" dirty="0">
                <a:solidFill>
                  <a:srgbClr val="F4F7FB"/>
                </a:solidFill>
              </a:rPr>
              <a:t>Research Brief</a:t>
            </a:r>
            <a:endParaRPr lang="en-US" sz="1200" dirty="0"/>
          </a:p>
          <a:p>
            <a:pPr algn="ctr" indent="0" marL="0">
              <a:buNone/>
            </a:pPr>
            <a:r>
              <a:rPr lang="en-US" sz="1200" b="1" dirty="0">
                <a:solidFill>
                  <a:srgbClr val="F4F7FB"/>
                </a:solidFill>
              </a:rPr>
              <a:t>lexique + hypothèses</a:t>
            </a:r>
            <a:endParaRPr lang="en-US" sz="1200" dirty="0"/>
          </a:p>
        </p:txBody>
      </p:sp>
      <p:sp>
        <p:nvSpPr>
          <p:cNvPr id="10" name="Shape 8"/>
          <p:cNvSpPr/>
          <p:nvPr/>
        </p:nvSpPr>
        <p:spPr>
          <a:xfrm>
            <a:off x="5669280" y="1828800"/>
            <a:ext cx="1874520" cy="822960"/>
          </a:xfrm>
          <a:prstGeom prst="roundRect">
            <a:avLst>
              <a:gd name="adj" fmla="val 13333"/>
            </a:avLst>
          </a:prstGeom>
          <a:solidFill>
            <a:srgbClr val="67E8F9">
              <a:alpha val="92000"/>
            </a:srgbClr>
          </a:solidFill>
          <a:ln w="12700">
            <a:solidFill>
              <a:srgbClr val="67E8F9"/>
            </a:solidFill>
            <a:prstDash val="solid"/>
          </a:ln>
        </p:spPr>
      </p:sp>
      <p:sp>
        <p:nvSpPr>
          <p:cNvPr id="11" name="Text 9"/>
          <p:cNvSpPr/>
          <p:nvPr/>
        </p:nvSpPr>
        <p:spPr>
          <a:xfrm>
            <a:off x="5779008" y="1920240"/>
            <a:ext cx="1655064" cy="640080"/>
          </a:xfrm>
          <a:prstGeom prst="rect">
            <a:avLst/>
          </a:prstGeom>
          <a:noFill/>
          <a:ln/>
        </p:spPr>
        <p:txBody>
          <a:bodyPr wrap="square" lIns="0" tIns="0" rIns="0" bIns="0" rtlCol="0" anchor="ctr"/>
          <a:lstStyle/>
          <a:p>
            <a:pPr algn="ctr" indent="0" marL="0">
              <a:buNone/>
            </a:pPr>
            <a:r>
              <a:rPr lang="en-US" sz="1200" b="1" dirty="0">
                <a:solidFill>
                  <a:srgbClr val="F4F7FB"/>
                </a:solidFill>
              </a:rPr>
              <a:t>Digital Twin</a:t>
            </a:r>
            <a:endParaRPr lang="en-US" sz="1200" dirty="0"/>
          </a:p>
          <a:p>
            <a:pPr algn="ctr" indent="0" marL="0">
              <a:buNone/>
            </a:pPr>
            <a:r>
              <a:rPr lang="en-US" sz="1200" b="1" dirty="0">
                <a:solidFill>
                  <a:srgbClr val="F4F7FB"/>
                </a:solidFill>
              </a:rPr>
              <a:t>états + scénarios</a:t>
            </a:r>
            <a:endParaRPr lang="en-US" sz="1200" dirty="0"/>
          </a:p>
        </p:txBody>
      </p:sp>
      <p:sp>
        <p:nvSpPr>
          <p:cNvPr id="12" name="Shape 10"/>
          <p:cNvSpPr/>
          <p:nvPr/>
        </p:nvSpPr>
        <p:spPr>
          <a:xfrm>
            <a:off x="8001000" y="1828800"/>
            <a:ext cx="1874520" cy="822960"/>
          </a:xfrm>
          <a:prstGeom prst="roundRect">
            <a:avLst>
              <a:gd name="adj" fmla="val 13333"/>
            </a:avLst>
          </a:prstGeom>
          <a:solidFill>
            <a:srgbClr val="86EFAC">
              <a:alpha val="92000"/>
            </a:srgbClr>
          </a:solidFill>
          <a:ln w="12700">
            <a:solidFill>
              <a:srgbClr val="86EFAC"/>
            </a:solidFill>
            <a:prstDash val="solid"/>
          </a:ln>
        </p:spPr>
      </p:sp>
      <p:sp>
        <p:nvSpPr>
          <p:cNvPr id="13" name="Text 11"/>
          <p:cNvSpPr/>
          <p:nvPr/>
        </p:nvSpPr>
        <p:spPr>
          <a:xfrm>
            <a:off x="8110728" y="1920240"/>
            <a:ext cx="1655064" cy="640080"/>
          </a:xfrm>
          <a:prstGeom prst="rect">
            <a:avLst/>
          </a:prstGeom>
          <a:noFill/>
          <a:ln/>
        </p:spPr>
        <p:txBody>
          <a:bodyPr wrap="square" lIns="0" tIns="0" rIns="0" bIns="0" rtlCol="0" anchor="ctr"/>
          <a:lstStyle/>
          <a:p>
            <a:pPr algn="ctr" indent="0" marL="0">
              <a:buNone/>
            </a:pPr>
            <a:r>
              <a:rPr lang="en-US" sz="1200" b="1" dirty="0">
                <a:solidFill>
                  <a:srgbClr val="F4F7FB"/>
                </a:solidFill>
              </a:rPr>
              <a:t>Matrices</a:t>
            </a:r>
            <a:endParaRPr lang="en-US" sz="1200" dirty="0"/>
          </a:p>
          <a:p>
            <a:pPr algn="ctr" indent="0" marL="0">
              <a:buNone/>
            </a:pPr>
            <a:r>
              <a:rPr lang="en-US" sz="1200" b="1" dirty="0">
                <a:solidFill>
                  <a:srgbClr val="F4F7FB"/>
                </a:solidFill>
              </a:rPr>
              <a:t>risques / V&amp;V</a:t>
            </a:r>
            <a:endParaRPr lang="en-US" sz="1200" dirty="0"/>
          </a:p>
        </p:txBody>
      </p:sp>
      <p:sp>
        <p:nvSpPr>
          <p:cNvPr id="14" name="Shape 12"/>
          <p:cNvSpPr/>
          <p:nvPr/>
        </p:nvSpPr>
        <p:spPr>
          <a:xfrm>
            <a:off x="10104120" y="1828800"/>
            <a:ext cx="1691640" cy="822960"/>
          </a:xfrm>
          <a:prstGeom prst="roundRect">
            <a:avLst>
              <a:gd name="adj" fmla="val 13333"/>
            </a:avLst>
          </a:prstGeom>
          <a:solidFill>
            <a:srgbClr val="FCD34D">
              <a:alpha val="92000"/>
            </a:srgbClr>
          </a:solidFill>
          <a:ln w="12700">
            <a:solidFill>
              <a:srgbClr val="FCD34D"/>
            </a:solidFill>
            <a:prstDash val="solid"/>
          </a:ln>
        </p:spPr>
      </p:sp>
      <p:sp>
        <p:nvSpPr>
          <p:cNvPr id="15" name="Text 13"/>
          <p:cNvSpPr/>
          <p:nvPr/>
        </p:nvSpPr>
        <p:spPr>
          <a:xfrm>
            <a:off x="10213848" y="1920240"/>
            <a:ext cx="1472184" cy="640080"/>
          </a:xfrm>
          <a:prstGeom prst="rect">
            <a:avLst/>
          </a:prstGeom>
          <a:noFill/>
          <a:ln/>
        </p:spPr>
        <p:txBody>
          <a:bodyPr wrap="square" lIns="0" tIns="0" rIns="0" bIns="0" rtlCol="0" anchor="ctr"/>
          <a:lstStyle/>
          <a:p>
            <a:pPr algn="ctr" indent="0" marL="0">
              <a:buNone/>
            </a:pPr>
            <a:r>
              <a:rPr lang="en-US" sz="1200" b="1" dirty="0">
                <a:solidFill>
                  <a:srgbClr val="F4F7FB"/>
                </a:solidFill>
              </a:rPr>
              <a:t>Dossier projet</a:t>
            </a:r>
            <a:endParaRPr lang="en-US" sz="1200" dirty="0"/>
          </a:p>
          <a:p>
            <a:pPr algn="ctr" indent="0" marL="0">
              <a:buNone/>
            </a:pPr>
            <a:r>
              <a:rPr lang="en-US" sz="1200" b="1" dirty="0">
                <a:solidFill>
                  <a:srgbClr val="F4F7FB"/>
                </a:solidFill>
              </a:rPr>
              <a:t>prêt à discuter</a:t>
            </a:r>
            <a:endParaRPr lang="en-US" sz="1200" dirty="0"/>
          </a:p>
        </p:txBody>
      </p:sp>
      <p:sp>
        <p:nvSpPr>
          <p:cNvPr id="16" name="Shape 14"/>
          <p:cNvSpPr/>
          <p:nvPr/>
        </p:nvSpPr>
        <p:spPr>
          <a:xfrm>
            <a:off x="2880360" y="2240280"/>
            <a:ext cx="393192" cy="0"/>
          </a:xfrm>
          <a:prstGeom prst="line">
            <a:avLst/>
          </a:prstGeom>
          <a:noFill/>
          <a:ln w="12700">
            <a:solidFill>
              <a:srgbClr val="59708C"/>
            </a:solidFill>
            <a:prstDash val="solid"/>
            <a:headEnd type="none"/>
            <a:tailEnd type="triangle"/>
          </a:ln>
        </p:spPr>
      </p:sp>
      <p:sp>
        <p:nvSpPr>
          <p:cNvPr id="17" name="Shape 15"/>
          <p:cNvSpPr/>
          <p:nvPr/>
        </p:nvSpPr>
        <p:spPr>
          <a:xfrm>
            <a:off x="5266944" y="2240280"/>
            <a:ext cx="338328" cy="0"/>
          </a:xfrm>
          <a:prstGeom prst="line">
            <a:avLst/>
          </a:prstGeom>
          <a:noFill/>
          <a:ln w="12700">
            <a:solidFill>
              <a:srgbClr val="59708C"/>
            </a:solidFill>
            <a:prstDash val="solid"/>
            <a:headEnd type="none"/>
            <a:tailEnd type="triangle"/>
          </a:ln>
        </p:spPr>
      </p:sp>
      <p:sp>
        <p:nvSpPr>
          <p:cNvPr id="18" name="Shape 16"/>
          <p:cNvSpPr/>
          <p:nvPr/>
        </p:nvSpPr>
        <p:spPr>
          <a:xfrm>
            <a:off x="7607808" y="2240280"/>
            <a:ext cx="329184" cy="0"/>
          </a:xfrm>
          <a:prstGeom prst="line">
            <a:avLst/>
          </a:prstGeom>
          <a:noFill/>
          <a:ln w="12700">
            <a:solidFill>
              <a:srgbClr val="59708C"/>
            </a:solidFill>
            <a:prstDash val="solid"/>
            <a:headEnd type="none"/>
            <a:tailEnd type="triangle"/>
          </a:ln>
        </p:spPr>
      </p:sp>
      <p:sp>
        <p:nvSpPr>
          <p:cNvPr id="19" name="Shape 17"/>
          <p:cNvSpPr/>
          <p:nvPr/>
        </p:nvSpPr>
        <p:spPr>
          <a:xfrm>
            <a:off x="9930384" y="2240280"/>
            <a:ext cx="128016" cy="0"/>
          </a:xfrm>
          <a:prstGeom prst="line">
            <a:avLst/>
          </a:prstGeom>
          <a:noFill/>
          <a:ln w="12700">
            <a:solidFill>
              <a:srgbClr val="59708C"/>
            </a:solidFill>
            <a:prstDash val="solid"/>
            <a:headEnd type="none"/>
            <a:tailEnd type="triangle"/>
          </a:ln>
        </p:spPr>
      </p:sp>
      <p:sp>
        <p:nvSpPr>
          <p:cNvPr id="20" name="Shape 18"/>
          <p:cNvSpPr/>
          <p:nvPr/>
        </p:nvSpPr>
        <p:spPr>
          <a:xfrm>
            <a:off x="1051560" y="3749040"/>
            <a:ext cx="9966960" cy="1417320"/>
          </a:xfrm>
          <a:prstGeom prst="roundRect">
            <a:avLst>
              <a:gd name="adj" fmla="val 7742"/>
            </a:avLst>
          </a:prstGeom>
          <a:solidFill>
            <a:srgbClr val="122943"/>
          </a:solidFill>
          <a:ln w="12700">
            <a:solidFill>
              <a:srgbClr val="203A59">
                <a:alpha val="85000"/>
              </a:srgbClr>
            </a:solidFill>
            <a:prstDash val="solid"/>
          </a:ln>
        </p:spPr>
      </p:sp>
      <p:sp>
        <p:nvSpPr>
          <p:cNvPr id="21" name="Text 19"/>
          <p:cNvSpPr/>
          <p:nvPr/>
        </p:nvSpPr>
        <p:spPr>
          <a:xfrm>
            <a:off x="1298448" y="4005072"/>
            <a:ext cx="2743200" cy="228600"/>
          </a:xfrm>
          <a:prstGeom prst="rect">
            <a:avLst/>
          </a:prstGeom>
          <a:noFill/>
          <a:ln/>
        </p:spPr>
        <p:txBody>
          <a:bodyPr wrap="square" lIns="0" tIns="0" rIns="0" bIns="0" rtlCol="0" anchor="ctr"/>
          <a:lstStyle/>
          <a:p>
            <a:pPr indent="0" marL="0">
              <a:buNone/>
            </a:pPr>
            <a:r>
              <a:rPr lang="en-US" sz="1500" b="1" dirty="0">
                <a:solidFill>
                  <a:srgbClr val="F4F7FB"/>
                </a:solidFill>
              </a:rPr>
              <a:t>Règle de sécurité du package</a:t>
            </a:r>
            <a:endParaRPr lang="en-US" sz="1500" dirty="0"/>
          </a:p>
        </p:txBody>
      </p:sp>
      <p:sp>
        <p:nvSpPr>
          <p:cNvPr id="22" name="Text 20"/>
          <p:cNvSpPr/>
          <p:nvPr/>
        </p:nvSpPr>
        <p:spPr>
          <a:xfrm>
            <a:off x="4343400" y="4005072"/>
            <a:ext cx="5897880" cy="347472"/>
          </a:xfrm>
          <a:prstGeom prst="rect">
            <a:avLst/>
          </a:prstGeom>
          <a:noFill/>
          <a:ln/>
        </p:spPr>
        <p:txBody>
          <a:bodyPr wrap="square" lIns="0" tIns="0" rIns="0" bIns="0" rtlCol="0" anchor="ctr"/>
          <a:lstStyle/>
          <a:p>
            <a:pPr indent="0" marL="0">
              <a:buNone/>
            </a:pPr>
            <a:r>
              <a:rPr lang="en-US" sz="1280" dirty="0">
                <a:solidFill>
                  <a:srgbClr val="B5C0CE"/>
                </a:solidFill>
              </a:rPr>
              <a:t>Les champs physiques sensibles sont remplacés par des variables abstraites, des scores normalisés et des preuves de cohérence logicielle.</a:t>
            </a:r>
            <a:endParaRPr lang="en-US" sz="1280" dirty="0"/>
          </a:p>
        </p:txBody>
      </p:sp>
      <p:sp>
        <p:nvSpPr>
          <p:cNvPr id="23" name="Shape 21"/>
          <p:cNvSpPr/>
          <p:nvPr/>
        </p:nvSpPr>
        <p:spPr>
          <a:xfrm>
            <a:off x="1325880" y="4727448"/>
            <a:ext cx="3154680" cy="310896"/>
          </a:xfrm>
          <a:prstGeom prst="roundRect">
            <a:avLst>
              <a:gd name="adj" fmla="val 23529"/>
            </a:avLst>
          </a:prstGeom>
          <a:solidFill>
            <a:srgbClr val="86EFAC">
              <a:alpha val="88000"/>
            </a:srgbClr>
          </a:solidFill>
          <a:ln w="12700">
            <a:solidFill>
              <a:srgbClr val="86EFAC"/>
            </a:solidFill>
            <a:prstDash val="solid"/>
          </a:ln>
        </p:spPr>
      </p:sp>
      <p:sp>
        <p:nvSpPr>
          <p:cNvPr id="24" name="Text 22"/>
          <p:cNvSpPr/>
          <p:nvPr/>
        </p:nvSpPr>
        <p:spPr>
          <a:xfrm>
            <a:off x="1417320" y="4805172"/>
            <a:ext cx="2971800" cy="128016"/>
          </a:xfrm>
          <a:prstGeom prst="rect">
            <a:avLst/>
          </a:prstGeom>
          <a:noFill/>
          <a:ln/>
        </p:spPr>
        <p:txBody>
          <a:bodyPr wrap="square" lIns="0" tIns="0" rIns="0" bIns="0" rtlCol="0" anchor="ctr"/>
          <a:lstStyle/>
          <a:p>
            <a:pPr algn="ctr" indent="0" marL="0">
              <a:buNone/>
            </a:pPr>
            <a:r>
              <a:rPr lang="en-US" sz="870" b="1" dirty="0">
                <a:solidFill>
                  <a:srgbClr val="F4F7FB"/>
                </a:solidFill>
              </a:rPr>
              <a:t>Accepté : hypothèses, états, risques, métriques</a:t>
            </a:r>
            <a:endParaRPr lang="en-US" sz="870" dirty="0"/>
          </a:p>
        </p:txBody>
      </p:sp>
      <p:sp>
        <p:nvSpPr>
          <p:cNvPr id="25" name="Shape 23"/>
          <p:cNvSpPr/>
          <p:nvPr/>
        </p:nvSpPr>
        <p:spPr>
          <a:xfrm>
            <a:off x="4846320" y="4727448"/>
            <a:ext cx="3246120" cy="310896"/>
          </a:xfrm>
          <a:prstGeom prst="roundRect">
            <a:avLst>
              <a:gd name="adj" fmla="val 23529"/>
            </a:avLst>
          </a:prstGeom>
          <a:solidFill>
            <a:srgbClr val="FDA4AF">
              <a:alpha val="88000"/>
            </a:srgbClr>
          </a:solidFill>
          <a:ln w="12700">
            <a:solidFill>
              <a:srgbClr val="FDA4AF"/>
            </a:solidFill>
            <a:prstDash val="solid"/>
          </a:ln>
        </p:spPr>
      </p:sp>
      <p:sp>
        <p:nvSpPr>
          <p:cNvPr id="26" name="Text 24"/>
          <p:cNvSpPr/>
          <p:nvPr/>
        </p:nvSpPr>
        <p:spPr>
          <a:xfrm>
            <a:off x="4937760" y="4805172"/>
            <a:ext cx="3063240" cy="128016"/>
          </a:xfrm>
          <a:prstGeom prst="rect">
            <a:avLst/>
          </a:prstGeom>
          <a:noFill/>
          <a:ln/>
        </p:spPr>
        <p:txBody>
          <a:bodyPr wrap="square" lIns="0" tIns="0" rIns="0" bIns="0" rtlCol="0" anchor="ctr"/>
          <a:lstStyle/>
          <a:p>
            <a:pPr algn="ctr" indent="0" marL="0">
              <a:buNone/>
            </a:pPr>
            <a:r>
              <a:rPr lang="en-US" sz="870" b="1" dirty="0">
                <a:solidFill>
                  <a:srgbClr val="F4F7FB"/>
                </a:solidFill>
              </a:rPr>
              <a:t>Rejeté : recette, allumage, géométrie, trajectoire</a:t>
            </a:r>
            <a:endParaRPr lang="en-US" sz="870" dirty="0"/>
          </a:p>
        </p:txBody>
      </p:sp>
      <p:sp>
        <p:nvSpPr>
          <p:cNvPr id="27" name="Text 25"/>
          <p:cNvSpPr/>
          <p:nvPr/>
        </p:nvSpPr>
        <p:spPr>
          <a:xfrm>
            <a:off x="502920" y="6473952"/>
            <a:ext cx="6675120" cy="228600"/>
          </a:xfrm>
          <a:prstGeom prst="rect">
            <a:avLst/>
          </a:prstGeom>
          <a:noFill/>
          <a:ln/>
        </p:spPr>
        <p:txBody>
          <a:bodyPr wrap="square" lIns="0" tIns="0" rIns="0" bIns="0" rtlCol="0" anchor="ctr"/>
          <a:lstStyle/>
          <a:p>
            <a:pPr indent="0" marL="0">
              <a:buNone/>
            </a:pPr>
            <a:r>
              <a:rPr lang="en-US" sz="850" dirty="0">
                <a:solidFill>
                  <a:srgbClr val="7891AD"/>
                </a:solidFill>
              </a:rPr>
              <a:t>AIONE · Kinetic Digital Package · version recherche non-physique</a:t>
            </a:r>
            <a:endParaRPr lang="en-US" sz="850" dirty="0"/>
          </a:p>
        </p:txBody>
      </p:sp>
      <p:sp>
        <p:nvSpPr>
          <p:cNvPr id="28" name="Text 26"/>
          <p:cNvSpPr/>
          <p:nvPr/>
        </p:nvSpPr>
        <p:spPr>
          <a:xfrm>
            <a:off x="11292840" y="6419088"/>
            <a:ext cx="384048" cy="237744"/>
          </a:xfrm>
          <a:prstGeom prst="rect">
            <a:avLst/>
          </a:prstGeom>
          <a:noFill/>
          <a:ln/>
        </p:spPr>
        <p:txBody>
          <a:bodyPr wrap="square" lIns="0" tIns="0" rIns="0" bIns="0" rtlCol="0" anchor="ctr"/>
          <a:lstStyle/>
          <a:p>
            <a:pPr algn="r" indent="0" marL="0">
              <a:buNone/>
            </a:pPr>
            <a:r>
              <a:rPr lang="en-US" sz="900" b="1" dirty="0">
                <a:solidFill>
                  <a:srgbClr val="67E8F9"/>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solidFill>
            <a:prstDash val="solid"/>
          </a:ln>
        </p:spPr>
      </p:sp>
      <p:sp>
        <p:nvSpPr>
          <p:cNvPr id="3" name="Shape 1"/>
          <p:cNvSpPr/>
          <p:nvPr/>
        </p:nvSpPr>
        <p:spPr>
          <a:xfrm>
            <a:off x="228600" y="228600"/>
            <a:ext cx="11734495" cy="6400800"/>
          </a:xfrm>
          <a:prstGeom prst="rect">
            <a:avLst/>
          </a:prstGeom>
          <a:solidFill>
            <a:srgbClr val="08111F">
              <a:alpha val="0"/>
            </a:srgbClr>
          </a:solidFill>
          <a:ln w="12700">
            <a:solidFill>
              <a:srgbClr val="203A59">
                <a:alpha val="70000"/>
              </a:srgbClr>
            </a:solidFill>
            <a:prstDash val="solid"/>
          </a:ln>
        </p:spPr>
      </p:sp>
      <p:sp>
        <p:nvSpPr>
          <p:cNvPr id="4" name="Text 2"/>
          <p:cNvSpPr/>
          <p:nvPr/>
        </p:nvSpPr>
        <p:spPr>
          <a:xfrm>
            <a:off x="502920" y="384048"/>
            <a:ext cx="7863840" cy="438912"/>
          </a:xfrm>
          <a:prstGeom prst="rect">
            <a:avLst/>
          </a:prstGeom>
          <a:noFill/>
          <a:ln/>
        </p:spPr>
        <p:txBody>
          <a:bodyPr wrap="square" lIns="0" tIns="0" rIns="0" bIns="0" rtlCol="0" anchor="ctr"/>
          <a:lstStyle/>
          <a:p>
            <a:pPr indent="0" marL="0">
              <a:buNone/>
            </a:pPr>
            <a:r>
              <a:rPr lang="en-US" sz="3000" b="1" dirty="0">
                <a:solidFill>
                  <a:srgbClr val="F4F7FB"/>
                </a:solidFill>
                <a:latin typeface="Aptos Display" pitchFamily="34" charset="0"/>
                <a:ea typeface="Aptos Display" pitchFamily="34" charset="-122"/>
                <a:cs typeface="Aptos Display" pitchFamily="34" charset="-120"/>
              </a:rPr>
              <a:t>4 · Ébauche de pitch en 45 secondes</a:t>
            </a:r>
            <a:endParaRPr lang="en-US" sz="3000" dirty="0"/>
          </a:p>
        </p:txBody>
      </p:sp>
      <p:sp>
        <p:nvSpPr>
          <p:cNvPr id="5" name="Text 3"/>
          <p:cNvSpPr/>
          <p:nvPr/>
        </p:nvSpPr>
        <p:spPr>
          <a:xfrm>
            <a:off x="530352" y="877824"/>
            <a:ext cx="8046720" cy="274320"/>
          </a:xfrm>
          <a:prstGeom prst="rect">
            <a:avLst/>
          </a:prstGeom>
          <a:noFill/>
          <a:ln/>
        </p:spPr>
        <p:txBody>
          <a:bodyPr wrap="square" lIns="0" tIns="0" rIns="0" bIns="0" rtlCol="0" anchor="ctr"/>
          <a:lstStyle/>
          <a:p>
            <a:pPr indent="0" marL="0">
              <a:buNone/>
            </a:pPr>
            <a:r>
              <a:rPr lang="en-US" sz="1250" dirty="0">
                <a:solidFill>
                  <a:srgbClr val="B5C0CE"/>
                </a:solidFill>
              </a:rPr>
              <a:t>Une formulation simple pour présenter le travail sans surpromesse.</a:t>
            </a:r>
            <a:endParaRPr lang="en-US" sz="1250" dirty="0"/>
          </a:p>
        </p:txBody>
      </p:sp>
      <p:sp>
        <p:nvSpPr>
          <p:cNvPr id="6" name="Shape 4"/>
          <p:cNvSpPr/>
          <p:nvPr/>
        </p:nvSpPr>
        <p:spPr>
          <a:xfrm>
            <a:off x="777240" y="1417320"/>
            <a:ext cx="5212080" cy="4251960"/>
          </a:xfrm>
          <a:prstGeom prst="roundRect">
            <a:avLst>
              <a:gd name="adj" fmla="val 2581"/>
            </a:avLst>
          </a:prstGeom>
          <a:solidFill>
            <a:srgbClr val="122943"/>
          </a:solidFill>
          <a:ln w="12700">
            <a:solidFill>
              <a:srgbClr val="203A59">
                <a:alpha val="85000"/>
              </a:srgbClr>
            </a:solidFill>
            <a:prstDash val="solid"/>
          </a:ln>
        </p:spPr>
      </p:sp>
      <p:sp>
        <p:nvSpPr>
          <p:cNvPr id="7" name="Text 5"/>
          <p:cNvSpPr/>
          <p:nvPr/>
        </p:nvSpPr>
        <p:spPr>
          <a:xfrm>
            <a:off x="1051560" y="1737360"/>
            <a:ext cx="1828800" cy="274320"/>
          </a:xfrm>
          <a:prstGeom prst="rect">
            <a:avLst/>
          </a:prstGeom>
          <a:noFill/>
          <a:ln/>
        </p:spPr>
        <p:txBody>
          <a:bodyPr wrap="square" lIns="0" tIns="0" rIns="0" bIns="0" rtlCol="0" anchor="ctr"/>
          <a:lstStyle/>
          <a:p>
            <a:pPr indent="0" marL="0">
              <a:buNone/>
            </a:pPr>
            <a:r>
              <a:rPr lang="en-US" sz="1800" b="1" dirty="0">
                <a:solidFill>
                  <a:srgbClr val="67E8F9"/>
                </a:solidFill>
              </a:rPr>
              <a:t>Pitch court</a:t>
            </a:r>
            <a:endParaRPr lang="en-US" sz="1800" dirty="0"/>
          </a:p>
        </p:txBody>
      </p:sp>
      <p:sp>
        <p:nvSpPr>
          <p:cNvPr id="8" name="Text 6"/>
          <p:cNvSpPr/>
          <p:nvPr/>
        </p:nvSpPr>
        <p:spPr>
          <a:xfrm>
            <a:off x="1051560" y="2331720"/>
            <a:ext cx="4434840" cy="2514600"/>
          </a:xfrm>
          <a:prstGeom prst="rect">
            <a:avLst/>
          </a:prstGeom>
          <a:noFill/>
          <a:ln/>
        </p:spPr>
        <p:txBody>
          <a:bodyPr wrap="square" lIns="254" tIns="254" rIns="254" bIns="254" rtlCol="0" anchor="ctr">
            <a:normAutofit/>
          </a:bodyPr>
          <a:lstStyle/>
          <a:p>
            <a:pPr indent="0" marL="0">
              <a:buNone/>
            </a:pPr>
            <a:r>
              <a:rPr lang="en-US" sz="1400" dirty="0">
                <a:solidFill>
                  <a:srgbClr val="F4F7FB"/>
                </a:solidFill>
              </a:rPr>
              <a:t>« Je travaille sur un modèle exploratoire appelé moteur à distorsion froide. L’idée n’est pas de prouver aujourd’hui un moteur réel, mais de formaliser une architecture numérique capable de représenter une modification locale de la carte des distances. Le noyau NOX sert de centre conceptuel ; autour, j’ajoute un digital twin, des contraintes, des scénarios et une validation logicielle pour transformer l’intuition en objet de recherche partageable. »</a:t>
            </a:r>
            <a:endParaRPr lang="en-US" sz="1400" dirty="0"/>
          </a:p>
        </p:txBody>
      </p:sp>
      <p:sp>
        <p:nvSpPr>
          <p:cNvPr id="9" name="Shape 7"/>
          <p:cNvSpPr/>
          <p:nvPr/>
        </p:nvSpPr>
        <p:spPr>
          <a:xfrm>
            <a:off x="6446520" y="1417320"/>
            <a:ext cx="4709160" cy="4251960"/>
          </a:xfrm>
          <a:prstGeom prst="roundRect">
            <a:avLst>
              <a:gd name="adj" fmla="val 2581"/>
            </a:avLst>
          </a:prstGeom>
          <a:solidFill>
            <a:srgbClr val="122943"/>
          </a:solidFill>
          <a:ln w="12700">
            <a:solidFill>
              <a:srgbClr val="203A59">
                <a:alpha val="85000"/>
              </a:srgbClr>
            </a:solidFill>
            <a:prstDash val="solid"/>
          </a:ln>
        </p:spPr>
      </p:sp>
      <p:sp>
        <p:nvSpPr>
          <p:cNvPr id="10" name="Text 8"/>
          <p:cNvSpPr/>
          <p:nvPr/>
        </p:nvSpPr>
        <p:spPr>
          <a:xfrm>
            <a:off x="6720840" y="1737360"/>
            <a:ext cx="3017520" cy="274320"/>
          </a:xfrm>
          <a:prstGeom prst="rect">
            <a:avLst/>
          </a:prstGeom>
          <a:noFill/>
          <a:ln/>
        </p:spPr>
        <p:txBody>
          <a:bodyPr wrap="square" lIns="0" tIns="0" rIns="0" bIns="0" rtlCol="0" anchor="ctr"/>
          <a:lstStyle/>
          <a:p>
            <a:pPr indent="0" marL="0">
              <a:buNone/>
            </a:pPr>
            <a:r>
              <a:rPr lang="en-US" sz="1800" b="1" dirty="0">
                <a:solidFill>
                  <a:srgbClr val="FCD34D"/>
                </a:solidFill>
              </a:rPr>
              <a:t>Ce que ça prouve / ne prouve pas</a:t>
            </a:r>
            <a:endParaRPr lang="en-US" sz="1800" dirty="0"/>
          </a:p>
        </p:txBody>
      </p:sp>
      <p:sp>
        <p:nvSpPr>
          <p:cNvPr id="11" name="Text 9"/>
          <p:cNvSpPr/>
          <p:nvPr/>
        </p:nvSpPr>
        <p:spPr>
          <a:xfrm>
            <a:off x="6720840" y="2331720"/>
            <a:ext cx="3703320" cy="2468880"/>
          </a:xfrm>
          <a:prstGeom prst="rect">
            <a:avLst/>
          </a:prstGeom>
          <a:noFill/>
          <a:ln/>
        </p:spPr>
        <p:txBody>
          <a:bodyPr wrap="square" lIns="254" tIns="254" rIns="254" bIns="254" rtlCol="0" anchor="ctr">
            <a:normAutofit/>
          </a:bodyPr>
          <a:lstStyle/>
          <a:p>
            <a:pPr indent="0" marL="0">
              <a:buNone/>
            </a:pPr>
            <a:r>
              <a:rPr lang="en-US" sz="1350" dirty="0">
                <a:solidFill>
                  <a:srgbClr val="B5C0CE"/>
                </a:solidFill>
              </a:rPr>
              <a:t>Prouve numériquement :</a:t>
            </a:r>
            <a:endParaRPr lang="en-US" sz="1350" dirty="0"/>
          </a:p>
          <a:p>
            <a:pPr indent="0" marL="0">
              <a:buNone/>
            </a:pPr>
            <a:r>
              <a:rPr lang="en-US" sz="1350" dirty="0">
                <a:solidFill>
                  <a:srgbClr val="B5C0CE"/>
                </a:solidFill>
              </a:rPr>
              <a:t>• cohérence de vocabulaire</a:t>
            </a:r>
            <a:endParaRPr lang="en-US" sz="1350" dirty="0"/>
          </a:p>
          <a:p>
            <a:pPr indent="0" marL="0">
              <a:buNone/>
            </a:pPr>
            <a:r>
              <a:rPr lang="en-US" sz="1350" dirty="0">
                <a:solidFill>
                  <a:srgbClr val="B5C0CE"/>
                </a:solidFill>
              </a:rPr>
              <a:t>• scénarios rejouables</a:t>
            </a:r>
            <a:endParaRPr lang="en-US" sz="1350" dirty="0"/>
          </a:p>
          <a:p>
            <a:pPr indent="0" marL="0">
              <a:buNone/>
            </a:pPr>
            <a:r>
              <a:rPr lang="en-US" sz="1350" dirty="0">
                <a:solidFill>
                  <a:srgbClr val="B5C0CE"/>
                </a:solidFill>
              </a:rPr>
              <a:t>• garde-fous de périmètre</a:t>
            </a:r>
            <a:endParaRPr lang="en-US" sz="1350" dirty="0"/>
          </a:p>
          <a:p>
            <a:pPr indent="0" marL="0">
              <a:buNone/>
            </a:pPr>
            <a:r>
              <a:rPr lang="en-US" sz="1350" dirty="0">
                <a:solidFill>
                  <a:srgbClr val="B5C0CE"/>
                </a:solidFill>
              </a:rPr>
              <a:t>• critères de discussion</a:t>
            </a:r>
            <a:endParaRPr lang="en-US" sz="1350" dirty="0"/>
          </a:p>
          <a:p>
            <a:pPr indent="0" marL="0">
              <a:buNone/>
            </a:pPr>
            <a:endParaRPr lang="en-US" sz="1350" dirty="0"/>
          </a:p>
          <a:p>
            <a:pPr indent="0" marL="0">
              <a:buNone/>
            </a:pPr>
            <a:r>
              <a:rPr lang="en-US" sz="1350" dirty="0">
                <a:solidFill>
                  <a:srgbClr val="B5C0CE"/>
                </a:solidFill>
              </a:rPr>
              <a:t>Ne prouve pas :</a:t>
            </a:r>
            <a:endParaRPr lang="en-US" sz="1350" dirty="0"/>
          </a:p>
          <a:p>
            <a:pPr indent="0" marL="0">
              <a:buNone/>
            </a:pPr>
            <a:r>
              <a:rPr lang="en-US" sz="1350" dirty="0">
                <a:solidFill>
                  <a:srgbClr val="B5C0CE"/>
                </a:solidFill>
              </a:rPr>
              <a:t>• propulsion réelle</a:t>
            </a:r>
            <a:endParaRPr lang="en-US" sz="1350" dirty="0"/>
          </a:p>
          <a:p>
            <a:pPr indent="0" marL="0">
              <a:buNone/>
            </a:pPr>
            <a:r>
              <a:rPr lang="en-US" sz="1350" dirty="0">
                <a:solidFill>
                  <a:srgbClr val="B5C0CE"/>
                </a:solidFill>
              </a:rPr>
              <a:t>• antigravité</a:t>
            </a:r>
            <a:endParaRPr lang="en-US" sz="1350" dirty="0"/>
          </a:p>
          <a:p>
            <a:pPr indent="0" marL="0">
              <a:buNone/>
            </a:pPr>
            <a:r>
              <a:rPr lang="en-US" sz="1350" dirty="0">
                <a:solidFill>
                  <a:srgbClr val="B5C0CE"/>
                </a:solidFill>
              </a:rPr>
              <a:t>• matériaux ou carburants physiques</a:t>
            </a:r>
            <a:endParaRPr lang="en-US" sz="1350" dirty="0"/>
          </a:p>
        </p:txBody>
      </p:sp>
      <p:sp>
        <p:nvSpPr>
          <p:cNvPr id="12" name="Text 10"/>
          <p:cNvSpPr/>
          <p:nvPr/>
        </p:nvSpPr>
        <p:spPr>
          <a:xfrm>
            <a:off x="502920" y="6473952"/>
            <a:ext cx="6675120" cy="228600"/>
          </a:xfrm>
          <a:prstGeom prst="rect">
            <a:avLst/>
          </a:prstGeom>
          <a:noFill/>
          <a:ln/>
        </p:spPr>
        <p:txBody>
          <a:bodyPr wrap="square" lIns="0" tIns="0" rIns="0" bIns="0" rtlCol="0" anchor="ctr"/>
          <a:lstStyle/>
          <a:p>
            <a:pPr indent="0" marL="0">
              <a:buNone/>
            </a:pPr>
            <a:r>
              <a:rPr lang="en-US" sz="850" dirty="0">
                <a:solidFill>
                  <a:srgbClr val="7891AD"/>
                </a:solidFill>
              </a:rPr>
              <a:t>AIONE · Kinetic Digital Package · version recherche non-physique</a:t>
            </a:r>
            <a:endParaRPr lang="en-US" sz="850" dirty="0"/>
          </a:p>
        </p:txBody>
      </p:sp>
      <p:sp>
        <p:nvSpPr>
          <p:cNvPr id="13" name="Text 11"/>
          <p:cNvSpPr/>
          <p:nvPr/>
        </p:nvSpPr>
        <p:spPr>
          <a:xfrm>
            <a:off x="11292840" y="6419088"/>
            <a:ext cx="384048" cy="237744"/>
          </a:xfrm>
          <a:prstGeom prst="rect">
            <a:avLst/>
          </a:prstGeom>
          <a:noFill/>
          <a:ln/>
        </p:spPr>
        <p:txBody>
          <a:bodyPr wrap="square" lIns="0" tIns="0" rIns="0" bIns="0" rtlCol="0" anchor="ctr"/>
          <a:lstStyle/>
          <a:p>
            <a:pPr algn="r" indent="0" marL="0">
              <a:buNone/>
            </a:pPr>
            <a:r>
              <a:rPr lang="en-US" sz="900" b="1" dirty="0">
                <a:solidFill>
                  <a:srgbClr val="67E8F9"/>
                </a:solidFill>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11F"/>
          </a:solidFill>
          <a:ln w="12700">
            <a:solidFill>
              <a:srgbClr val="08111F"/>
            </a:solidFill>
            <a:prstDash val="solid"/>
          </a:ln>
        </p:spPr>
      </p:sp>
      <p:sp>
        <p:nvSpPr>
          <p:cNvPr id="3" name="Shape 1"/>
          <p:cNvSpPr/>
          <p:nvPr/>
        </p:nvSpPr>
        <p:spPr>
          <a:xfrm>
            <a:off x="228600" y="228600"/>
            <a:ext cx="11734495" cy="6400800"/>
          </a:xfrm>
          <a:prstGeom prst="rect">
            <a:avLst/>
          </a:prstGeom>
          <a:solidFill>
            <a:srgbClr val="08111F">
              <a:alpha val="0"/>
            </a:srgbClr>
          </a:solidFill>
          <a:ln w="12700">
            <a:solidFill>
              <a:srgbClr val="203A59">
                <a:alpha val="70000"/>
              </a:srgbClr>
            </a:solidFill>
            <a:prstDash val="solid"/>
          </a:ln>
        </p:spPr>
      </p:sp>
      <p:sp>
        <p:nvSpPr>
          <p:cNvPr id="4" name="Text 2"/>
          <p:cNvSpPr/>
          <p:nvPr/>
        </p:nvSpPr>
        <p:spPr>
          <a:xfrm>
            <a:off x="502920" y="384048"/>
            <a:ext cx="7863840" cy="438912"/>
          </a:xfrm>
          <a:prstGeom prst="rect">
            <a:avLst/>
          </a:prstGeom>
          <a:noFill/>
          <a:ln/>
        </p:spPr>
        <p:txBody>
          <a:bodyPr wrap="square" lIns="0" tIns="0" rIns="0" bIns="0" rtlCol="0" anchor="ctr"/>
          <a:lstStyle/>
          <a:p>
            <a:pPr indent="0" marL="0">
              <a:buNone/>
            </a:pPr>
            <a:r>
              <a:rPr lang="en-US" sz="3000" b="1" dirty="0">
                <a:solidFill>
                  <a:srgbClr val="F4F7FB"/>
                </a:solidFill>
                <a:latin typeface="Aptos Display" pitchFamily="34" charset="0"/>
                <a:ea typeface="Aptos Display" pitchFamily="34" charset="-122"/>
                <a:cs typeface="Aptos Display" pitchFamily="34" charset="-120"/>
              </a:rPr>
              <a:t>5 · Roadmap de recherche</a:t>
            </a:r>
            <a:endParaRPr lang="en-US" sz="3000" dirty="0"/>
          </a:p>
        </p:txBody>
      </p:sp>
      <p:sp>
        <p:nvSpPr>
          <p:cNvPr id="5" name="Text 3"/>
          <p:cNvSpPr/>
          <p:nvPr/>
        </p:nvSpPr>
        <p:spPr>
          <a:xfrm>
            <a:off x="530352" y="877824"/>
            <a:ext cx="8046720" cy="274320"/>
          </a:xfrm>
          <a:prstGeom prst="rect">
            <a:avLst/>
          </a:prstGeom>
          <a:noFill/>
          <a:ln/>
        </p:spPr>
        <p:txBody>
          <a:bodyPr wrap="square" lIns="0" tIns="0" rIns="0" bIns="0" rtlCol="0" anchor="ctr"/>
          <a:lstStyle/>
          <a:p>
            <a:pPr indent="0" marL="0">
              <a:buNone/>
            </a:pPr>
            <a:r>
              <a:rPr lang="en-US" sz="1250" dirty="0">
                <a:solidFill>
                  <a:srgbClr val="B5C0CE"/>
                </a:solidFill>
              </a:rPr>
              <a:t>Passer d’une idée forte à un dossier numérique défendable.</a:t>
            </a:r>
            <a:endParaRPr lang="en-US" sz="1250" dirty="0"/>
          </a:p>
        </p:txBody>
      </p:sp>
      <p:sp>
        <p:nvSpPr>
          <p:cNvPr id="6" name="Shape 4"/>
          <p:cNvSpPr/>
          <p:nvPr/>
        </p:nvSpPr>
        <p:spPr>
          <a:xfrm>
            <a:off x="731520" y="1691640"/>
            <a:ext cx="1874520" cy="3246120"/>
          </a:xfrm>
          <a:prstGeom prst="roundRect">
            <a:avLst>
              <a:gd name="adj" fmla="val 5854"/>
            </a:avLst>
          </a:prstGeom>
          <a:solidFill>
            <a:srgbClr val="122943"/>
          </a:solidFill>
          <a:ln w="12700">
            <a:solidFill>
              <a:srgbClr val="203A59">
                <a:alpha val="85000"/>
              </a:srgbClr>
            </a:solidFill>
            <a:prstDash val="solid"/>
          </a:ln>
        </p:spPr>
      </p:sp>
      <p:sp>
        <p:nvSpPr>
          <p:cNvPr id="7" name="Text 5"/>
          <p:cNvSpPr/>
          <p:nvPr/>
        </p:nvSpPr>
        <p:spPr>
          <a:xfrm>
            <a:off x="868680" y="1920240"/>
            <a:ext cx="502920" cy="320040"/>
          </a:xfrm>
          <a:prstGeom prst="rect">
            <a:avLst/>
          </a:prstGeom>
          <a:noFill/>
          <a:ln/>
        </p:spPr>
        <p:txBody>
          <a:bodyPr wrap="square" lIns="0" tIns="0" rIns="0" bIns="0" rtlCol="0" anchor="ctr"/>
          <a:lstStyle/>
          <a:p>
            <a:pPr indent="0" marL="0">
              <a:buNone/>
            </a:pPr>
            <a:r>
              <a:rPr lang="en-US" sz="1800" b="1" dirty="0">
                <a:solidFill>
                  <a:srgbClr val="67E8F9"/>
                </a:solidFill>
              </a:rPr>
              <a:t>01</a:t>
            </a:r>
            <a:endParaRPr lang="en-US" sz="1800" dirty="0"/>
          </a:p>
        </p:txBody>
      </p:sp>
      <p:sp>
        <p:nvSpPr>
          <p:cNvPr id="8" name="Text 6"/>
          <p:cNvSpPr/>
          <p:nvPr/>
        </p:nvSpPr>
        <p:spPr>
          <a:xfrm>
            <a:off x="868680" y="2450592"/>
            <a:ext cx="1463040" cy="292608"/>
          </a:xfrm>
          <a:prstGeom prst="rect">
            <a:avLst/>
          </a:prstGeom>
          <a:noFill/>
          <a:ln/>
        </p:spPr>
        <p:txBody>
          <a:bodyPr wrap="square" lIns="0" tIns="0" rIns="0" bIns="0" rtlCol="0" anchor="ctr"/>
          <a:lstStyle/>
          <a:p>
            <a:pPr indent="0" marL="0">
              <a:buNone/>
            </a:pPr>
            <a:r>
              <a:rPr lang="en-US" sz="1600" b="1" dirty="0">
                <a:solidFill>
                  <a:srgbClr val="F4F7FB"/>
                </a:solidFill>
              </a:rPr>
              <a:t>Lexique</a:t>
            </a:r>
            <a:endParaRPr lang="en-US" sz="1600" dirty="0"/>
          </a:p>
        </p:txBody>
      </p:sp>
      <p:sp>
        <p:nvSpPr>
          <p:cNvPr id="9" name="Text 7"/>
          <p:cNvSpPr/>
          <p:nvPr/>
        </p:nvSpPr>
        <p:spPr>
          <a:xfrm>
            <a:off x="868680" y="3035808"/>
            <a:ext cx="1508760" cy="1417320"/>
          </a:xfrm>
          <a:prstGeom prst="rect">
            <a:avLst/>
          </a:prstGeom>
          <a:noFill/>
          <a:ln/>
        </p:spPr>
        <p:txBody>
          <a:bodyPr wrap="square" lIns="254" tIns="254" rIns="254" bIns="254" rtlCol="0" anchor="ctr">
            <a:normAutofit/>
          </a:bodyPr>
          <a:lstStyle/>
          <a:p>
            <a:pPr indent="0" marL="0">
              <a:buNone/>
            </a:pPr>
            <a:r>
              <a:rPr lang="en-US" sz="1150" dirty="0">
                <a:solidFill>
                  <a:srgbClr val="B5C0CE"/>
                </a:solidFill>
              </a:rPr>
              <a:t>NOX, champ froid, enveloppe, pente, matérialiseur</a:t>
            </a:r>
            <a:endParaRPr lang="en-US" sz="1150" dirty="0"/>
          </a:p>
        </p:txBody>
      </p:sp>
      <p:sp>
        <p:nvSpPr>
          <p:cNvPr id="10" name="Shape 8"/>
          <p:cNvSpPr/>
          <p:nvPr/>
        </p:nvSpPr>
        <p:spPr>
          <a:xfrm>
            <a:off x="2999232" y="1691640"/>
            <a:ext cx="1874520" cy="3246120"/>
          </a:xfrm>
          <a:prstGeom prst="roundRect">
            <a:avLst>
              <a:gd name="adj" fmla="val 5854"/>
            </a:avLst>
          </a:prstGeom>
          <a:solidFill>
            <a:srgbClr val="10233A"/>
          </a:solidFill>
          <a:ln w="12700">
            <a:solidFill>
              <a:srgbClr val="203A59">
                <a:alpha val="85000"/>
              </a:srgbClr>
            </a:solidFill>
            <a:prstDash val="solid"/>
          </a:ln>
        </p:spPr>
      </p:sp>
      <p:sp>
        <p:nvSpPr>
          <p:cNvPr id="11" name="Text 9"/>
          <p:cNvSpPr/>
          <p:nvPr/>
        </p:nvSpPr>
        <p:spPr>
          <a:xfrm>
            <a:off x="3136392" y="1920240"/>
            <a:ext cx="502920" cy="320040"/>
          </a:xfrm>
          <a:prstGeom prst="rect">
            <a:avLst/>
          </a:prstGeom>
          <a:noFill/>
          <a:ln/>
        </p:spPr>
        <p:txBody>
          <a:bodyPr wrap="square" lIns="0" tIns="0" rIns="0" bIns="0" rtlCol="0" anchor="ctr"/>
          <a:lstStyle/>
          <a:p>
            <a:pPr indent="0" marL="0">
              <a:buNone/>
            </a:pPr>
            <a:r>
              <a:rPr lang="en-US" sz="1800" b="1" dirty="0">
                <a:solidFill>
                  <a:srgbClr val="67E8F9"/>
                </a:solidFill>
              </a:rPr>
              <a:t>02</a:t>
            </a:r>
            <a:endParaRPr lang="en-US" sz="1800" dirty="0"/>
          </a:p>
        </p:txBody>
      </p:sp>
      <p:sp>
        <p:nvSpPr>
          <p:cNvPr id="12" name="Text 10"/>
          <p:cNvSpPr/>
          <p:nvPr/>
        </p:nvSpPr>
        <p:spPr>
          <a:xfrm>
            <a:off x="3136392" y="2450592"/>
            <a:ext cx="1463040" cy="292608"/>
          </a:xfrm>
          <a:prstGeom prst="rect">
            <a:avLst/>
          </a:prstGeom>
          <a:noFill/>
          <a:ln/>
        </p:spPr>
        <p:txBody>
          <a:bodyPr wrap="square" lIns="0" tIns="0" rIns="0" bIns="0" rtlCol="0" anchor="ctr"/>
          <a:lstStyle/>
          <a:p>
            <a:pPr indent="0" marL="0">
              <a:buNone/>
            </a:pPr>
            <a:r>
              <a:rPr lang="en-US" sz="1600" b="1" dirty="0">
                <a:solidFill>
                  <a:srgbClr val="F4F7FB"/>
                </a:solidFill>
              </a:rPr>
              <a:t>Formalisme</a:t>
            </a:r>
            <a:endParaRPr lang="en-US" sz="1600" dirty="0"/>
          </a:p>
        </p:txBody>
      </p:sp>
      <p:sp>
        <p:nvSpPr>
          <p:cNvPr id="13" name="Text 11"/>
          <p:cNvSpPr/>
          <p:nvPr/>
        </p:nvSpPr>
        <p:spPr>
          <a:xfrm>
            <a:off x="3136392" y="3035808"/>
            <a:ext cx="1508760" cy="1417320"/>
          </a:xfrm>
          <a:prstGeom prst="rect">
            <a:avLst/>
          </a:prstGeom>
          <a:noFill/>
          <a:ln/>
        </p:spPr>
        <p:txBody>
          <a:bodyPr wrap="square" lIns="254" tIns="254" rIns="254" bIns="254" rtlCol="0" anchor="ctr">
            <a:normAutofit/>
          </a:bodyPr>
          <a:lstStyle/>
          <a:p>
            <a:pPr indent="0" marL="0">
              <a:buNone/>
            </a:pPr>
            <a:r>
              <a:rPr lang="en-US" sz="1150" dirty="0">
                <a:solidFill>
                  <a:srgbClr val="B5C0CE"/>
                </a:solidFill>
              </a:rPr>
              <a:t>variables abstraites, états, contraintes, invariants</a:t>
            </a:r>
            <a:endParaRPr lang="en-US" sz="1150" dirty="0"/>
          </a:p>
        </p:txBody>
      </p:sp>
      <p:sp>
        <p:nvSpPr>
          <p:cNvPr id="14" name="Shape 12"/>
          <p:cNvSpPr/>
          <p:nvPr/>
        </p:nvSpPr>
        <p:spPr>
          <a:xfrm>
            <a:off x="5266944" y="1691640"/>
            <a:ext cx="1874520" cy="3246120"/>
          </a:xfrm>
          <a:prstGeom prst="roundRect">
            <a:avLst>
              <a:gd name="adj" fmla="val 5854"/>
            </a:avLst>
          </a:prstGeom>
          <a:solidFill>
            <a:srgbClr val="122943"/>
          </a:solidFill>
          <a:ln w="12700">
            <a:solidFill>
              <a:srgbClr val="203A59">
                <a:alpha val="85000"/>
              </a:srgbClr>
            </a:solidFill>
            <a:prstDash val="solid"/>
          </a:ln>
        </p:spPr>
      </p:sp>
      <p:sp>
        <p:nvSpPr>
          <p:cNvPr id="15" name="Text 13"/>
          <p:cNvSpPr/>
          <p:nvPr/>
        </p:nvSpPr>
        <p:spPr>
          <a:xfrm>
            <a:off x="5404104" y="1920240"/>
            <a:ext cx="502920" cy="320040"/>
          </a:xfrm>
          <a:prstGeom prst="rect">
            <a:avLst/>
          </a:prstGeom>
          <a:noFill/>
          <a:ln/>
        </p:spPr>
        <p:txBody>
          <a:bodyPr wrap="square" lIns="0" tIns="0" rIns="0" bIns="0" rtlCol="0" anchor="ctr"/>
          <a:lstStyle/>
          <a:p>
            <a:pPr indent="0" marL="0">
              <a:buNone/>
            </a:pPr>
            <a:r>
              <a:rPr lang="en-US" sz="1800" b="1" dirty="0">
                <a:solidFill>
                  <a:srgbClr val="67E8F9"/>
                </a:solidFill>
              </a:rPr>
              <a:t>03</a:t>
            </a:r>
            <a:endParaRPr lang="en-US" sz="1800" dirty="0"/>
          </a:p>
        </p:txBody>
      </p:sp>
      <p:sp>
        <p:nvSpPr>
          <p:cNvPr id="16" name="Text 14"/>
          <p:cNvSpPr/>
          <p:nvPr/>
        </p:nvSpPr>
        <p:spPr>
          <a:xfrm>
            <a:off x="5404104" y="2450592"/>
            <a:ext cx="1463040" cy="292608"/>
          </a:xfrm>
          <a:prstGeom prst="rect">
            <a:avLst/>
          </a:prstGeom>
          <a:noFill/>
          <a:ln/>
        </p:spPr>
        <p:txBody>
          <a:bodyPr wrap="square" lIns="0" tIns="0" rIns="0" bIns="0" rtlCol="0" anchor="ctr"/>
          <a:lstStyle/>
          <a:p>
            <a:pPr indent="0" marL="0">
              <a:buNone/>
            </a:pPr>
            <a:r>
              <a:rPr lang="en-US" sz="1600" b="1" dirty="0">
                <a:solidFill>
                  <a:srgbClr val="F4F7FB"/>
                </a:solidFill>
              </a:rPr>
              <a:t>Simulation</a:t>
            </a:r>
            <a:endParaRPr lang="en-US" sz="1600" dirty="0"/>
          </a:p>
        </p:txBody>
      </p:sp>
      <p:sp>
        <p:nvSpPr>
          <p:cNvPr id="17" name="Text 15"/>
          <p:cNvSpPr/>
          <p:nvPr/>
        </p:nvSpPr>
        <p:spPr>
          <a:xfrm>
            <a:off x="5404104" y="3035808"/>
            <a:ext cx="1508760" cy="1417320"/>
          </a:xfrm>
          <a:prstGeom prst="rect">
            <a:avLst/>
          </a:prstGeom>
          <a:noFill/>
          <a:ln/>
        </p:spPr>
        <p:txBody>
          <a:bodyPr wrap="square" lIns="254" tIns="254" rIns="254" bIns="254" rtlCol="0" anchor="ctr">
            <a:normAutofit/>
          </a:bodyPr>
          <a:lstStyle/>
          <a:p>
            <a:pPr indent="0" marL="0">
              <a:buNone/>
            </a:pPr>
            <a:r>
              <a:rPr lang="en-US" sz="1150" dirty="0">
                <a:solidFill>
                  <a:srgbClr val="B5C0CE"/>
                </a:solidFill>
              </a:rPr>
              <a:t>scénarios nominaux, dégradés, impossibilités, logs</a:t>
            </a:r>
            <a:endParaRPr lang="en-US" sz="1150" dirty="0"/>
          </a:p>
        </p:txBody>
      </p:sp>
      <p:sp>
        <p:nvSpPr>
          <p:cNvPr id="18" name="Shape 16"/>
          <p:cNvSpPr/>
          <p:nvPr/>
        </p:nvSpPr>
        <p:spPr>
          <a:xfrm>
            <a:off x="7534656" y="1691640"/>
            <a:ext cx="1874520" cy="3246120"/>
          </a:xfrm>
          <a:prstGeom prst="roundRect">
            <a:avLst>
              <a:gd name="adj" fmla="val 5854"/>
            </a:avLst>
          </a:prstGeom>
          <a:solidFill>
            <a:srgbClr val="10233A"/>
          </a:solidFill>
          <a:ln w="12700">
            <a:solidFill>
              <a:srgbClr val="203A59">
                <a:alpha val="85000"/>
              </a:srgbClr>
            </a:solidFill>
            <a:prstDash val="solid"/>
          </a:ln>
        </p:spPr>
      </p:sp>
      <p:sp>
        <p:nvSpPr>
          <p:cNvPr id="19" name="Text 17"/>
          <p:cNvSpPr/>
          <p:nvPr/>
        </p:nvSpPr>
        <p:spPr>
          <a:xfrm>
            <a:off x="7671816" y="1920240"/>
            <a:ext cx="502920" cy="320040"/>
          </a:xfrm>
          <a:prstGeom prst="rect">
            <a:avLst/>
          </a:prstGeom>
          <a:noFill/>
          <a:ln/>
        </p:spPr>
        <p:txBody>
          <a:bodyPr wrap="square" lIns="0" tIns="0" rIns="0" bIns="0" rtlCol="0" anchor="ctr"/>
          <a:lstStyle/>
          <a:p>
            <a:pPr indent="0" marL="0">
              <a:buNone/>
            </a:pPr>
            <a:r>
              <a:rPr lang="en-US" sz="1800" b="1" dirty="0">
                <a:solidFill>
                  <a:srgbClr val="67E8F9"/>
                </a:solidFill>
              </a:rPr>
              <a:t>04</a:t>
            </a:r>
            <a:endParaRPr lang="en-US" sz="1800" dirty="0"/>
          </a:p>
        </p:txBody>
      </p:sp>
      <p:sp>
        <p:nvSpPr>
          <p:cNvPr id="20" name="Text 18"/>
          <p:cNvSpPr/>
          <p:nvPr/>
        </p:nvSpPr>
        <p:spPr>
          <a:xfrm>
            <a:off x="7671816" y="2450592"/>
            <a:ext cx="1463040" cy="292608"/>
          </a:xfrm>
          <a:prstGeom prst="rect">
            <a:avLst/>
          </a:prstGeom>
          <a:noFill/>
          <a:ln/>
        </p:spPr>
        <p:txBody>
          <a:bodyPr wrap="square" lIns="0" tIns="0" rIns="0" bIns="0" rtlCol="0" anchor="ctr"/>
          <a:lstStyle/>
          <a:p>
            <a:pPr indent="0" marL="0">
              <a:buNone/>
            </a:pPr>
            <a:r>
              <a:rPr lang="en-US" sz="1600" b="1" dirty="0">
                <a:solidFill>
                  <a:srgbClr val="F4F7FB"/>
                </a:solidFill>
              </a:rPr>
              <a:t>Critique</a:t>
            </a:r>
            <a:endParaRPr lang="en-US" sz="1600" dirty="0"/>
          </a:p>
        </p:txBody>
      </p:sp>
      <p:sp>
        <p:nvSpPr>
          <p:cNvPr id="21" name="Text 19"/>
          <p:cNvSpPr/>
          <p:nvPr/>
        </p:nvSpPr>
        <p:spPr>
          <a:xfrm>
            <a:off x="7671816" y="3035808"/>
            <a:ext cx="1508760" cy="1417320"/>
          </a:xfrm>
          <a:prstGeom prst="rect">
            <a:avLst/>
          </a:prstGeom>
          <a:noFill/>
          <a:ln/>
        </p:spPr>
        <p:txBody>
          <a:bodyPr wrap="square" lIns="254" tIns="254" rIns="254" bIns="254" rtlCol="0" anchor="ctr">
            <a:normAutofit/>
          </a:bodyPr>
          <a:lstStyle/>
          <a:p>
            <a:pPr indent="0" marL="0">
              <a:buNone/>
            </a:pPr>
            <a:r>
              <a:rPr lang="en-US" sz="1150" dirty="0">
                <a:solidFill>
                  <a:srgbClr val="B5C0CE"/>
                </a:solidFill>
              </a:rPr>
              <a:t>ce qui manque, ce qui est faux, ce qui reste testable</a:t>
            </a:r>
            <a:endParaRPr lang="en-US" sz="1150" dirty="0"/>
          </a:p>
        </p:txBody>
      </p:sp>
      <p:sp>
        <p:nvSpPr>
          <p:cNvPr id="22" name="Shape 20"/>
          <p:cNvSpPr/>
          <p:nvPr/>
        </p:nvSpPr>
        <p:spPr>
          <a:xfrm>
            <a:off x="9802368" y="1691640"/>
            <a:ext cx="1874520" cy="3246120"/>
          </a:xfrm>
          <a:prstGeom prst="roundRect">
            <a:avLst>
              <a:gd name="adj" fmla="val 5854"/>
            </a:avLst>
          </a:prstGeom>
          <a:solidFill>
            <a:srgbClr val="122943"/>
          </a:solidFill>
          <a:ln w="12700">
            <a:solidFill>
              <a:srgbClr val="203A59">
                <a:alpha val="85000"/>
              </a:srgbClr>
            </a:solidFill>
            <a:prstDash val="solid"/>
          </a:ln>
        </p:spPr>
      </p:sp>
      <p:sp>
        <p:nvSpPr>
          <p:cNvPr id="23" name="Text 21"/>
          <p:cNvSpPr/>
          <p:nvPr/>
        </p:nvSpPr>
        <p:spPr>
          <a:xfrm>
            <a:off x="9939528" y="1920240"/>
            <a:ext cx="502920" cy="320040"/>
          </a:xfrm>
          <a:prstGeom prst="rect">
            <a:avLst/>
          </a:prstGeom>
          <a:noFill/>
          <a:ln/>
        </p:spPr>
        <p:txBody>
          <a:bodyPr wrap="square" lIns="0" tIns="0" rIns="0" bIns="0" rtlCol="0" anchor="ctr"/>
          <a:lstStyle/>
          <a:p>
            <a:pPr indent="0" marL="0">
              <a:buNone/>
            </a:pPr>
            <a:r>
              <a:rPr lang="en-US" sz="1800" b="1" dirty="0">
                <a:solidFill>
                  <a:srgbClr val="67E8F9"/>
                </a:solidFill>
              </a:rPr>
              <a:t>05</a:t>
            </a:r>
            <a:endParaRPr lang="en-US" sz="1800" dirty="0"/>
          </a:p>
        </p:txBody>
      </p:sp>
      <p:sp>
        <p:nvSpPr>
          <p:cNvPr id="24" name="Text 22"/>
          <p:cNvSpPr/>
          <p:nvPr/>
        </p:nvSpPr>
        <p:spPr>
          <a:xfrm>
            <a:off x="9939528" y="2450592"/>
            <a:ext cx="1463040" cy="292608"/>
          </a:xfrm>
          <a:prstGeom prst="rect">
            <a:avLst/>
          </a:prstGeom>
          <a:noFill/>
          <a:ln/>
        </p:spPr>
        <p:txBody>
          <a:bodyPr wrap="square" lIns="0" tIns="0" rIns="0" bIns="0" rtlCol="0" anchor="ctr"/>
          <a:lstStyle/>
          <a:p>
            <a:pPr indent="0" marL="0">
              <a:buNone/>
            </a:pPr>
            <a:r>
              <a:rPr lang="en-US" sz="1600" b="1" dirty="0">
                <a:solidFill>
                  <a:srgbClr val="F4F7FB"/>
                </a:solidFill>
              </a:rPr>
              <a:t>Présentation</a:t>
            </a:r>
            <a:endParaRPr lang="en-US" sz="1600" dirty="0"/>
          </a:p>
        </p:txBody>
      </p:sp>
      <p:sp>
        <p:nvSpPr>
          <p:cNvPr id="25" name="Text 23"/>
          <p:cNvSpPr/>
          <p:nvPr/>
        </p:nvSpPr>
        <p:spPr>
          <a:xfrm>
            <a:off x="9939528" y="3035808"/>
            <a:ext cx="1508760" cy="1417320"/>
          </a:xfrm>
          <a:prstGeom prst="rect">
            <a:avLst/>
          </a:prstGeom>
          <a:noFill/>
          <a:ln/>
        </p:spPr>
        <p:txBody>
          <a:bodyPr wrap="square" lIns="254" tIns="254" rIns="254" bIns="254" rtlCol="0" anchor="ctr">
            <a:normAutofit/>
          </a:bodyPr>
          <a:lstStyle/>
          <a:p>
            <a:pPr indent="0" marL="0">
              <a:buNone/>
            </a:pPr>
            <a:r>
              <a:rPr lang="en-US" sz="1150" dirty="0">
                <a:solidFill>
                  <a:srgbClr val="B5C0CE"/>
                </a:solidFill>
              </a:rPr>
              <a:t>pitch, figures, annexe technique non-sensible</a:t>
            </a:r>
            <a:endParaRPr lang="en-US" sz="1150" dirty="0"/>
          </a:p>
        </p:txBody>
      </p:sp>
      <p:sp>
        <p:nvSpPr>
          <p:cNvPr id="26" name="Text 24"/>
          <p:cNvSpPr/>
          <p:nvPr/>
        </p:nvSpPr>
        <p:spPr>
          <a:xfrm>
            <a:off x="914400" y="5596128"/>
            <a:ext cx="1920240" cy="256032"/>
          </a:xfrm>
          <a:prstGeom prst="rect">
            <a:avLst/>
          </a:prstGeom>
          <a:noFill/>
          <a:ln/>
        </p:spPr>
        <p:txBody>
          <a:bodyPr wrap="square" lIns="0" tIns="0" rIns="0" bIns="0" rtlCol="0" anchor="ctr"/>
          <a:lstStyle/>
          <a:p>
            <a:pPr indent="0" marL="0">
              <a:buNone/>
            </a:pPr>
            <a:r>
              <a:rPr lang="en-US" sz="1500" b="1" dirty="0">
                <a:solidFill>
                  <a:srgbClr val="86EFAC"/>
                </a:solidFill>
              </a:rPr>
              <a:t>Résultat attendu</a:t>
            </a:r>
            <a:endParaRPr lang="en-US" sz="1500" dirty="0"/>
          </a:p>
        </p:txBody>
      </p:sp>
      <p:sp>
        <p:nvSpPr>
          <p:cNvPr id="27" name="Text 25"/>
          <p:cNvSpPr/>
          <p:nvPr/>
        </p:nvSpPr>
        <p:spPr>
          <a:xfrm>
            <a:off x="2834640" y="5605272"/>
            <a:ext cx="7680960" cy="256032"/>
          </a:xfrm>
          <a:prstGeom prst="rect">
            <a:avLst/>
          </a:prstGeom>
          <a:noFill/>
          <a:ln/>
        </p:spPr>
        <p:txBody>
          <a:bodyPr wrap="square" lIns="0" tIns="0" rIns="0" bIns="0" rtlCol="0" anchor="ctr"/>
          <a:lstStyle/>
          <a:p>
            <a:pPr indent="0" marL="0">
              <a:buNone/>
            </a:pPr>
            <a:r>
              <a:rPr lang="en-US" sz="1240" dirty="0">
                <a:solidFill>
                  <a:srgbClr val="B5C0CE"/>
                </a:solidFill>
              </a:rPr>
              <a:t>Un travail présentable comme recherche spéculative structurée : clair, traçable, discutable, sans confusion avec une validation physique.</a:t>
            </a:r>
            <a:endParaRPr lang="en-US" sz="1240" dirty="0"/>
          </a:p>
        </p:txBody>
      </p:sp>
      <p:sp>
        <p:nvSpPr>
          <p:cNvPr id="28" name="Text 26"/>
          <p:cNvSpPr/>
          <p:nvPr/>
        </p:nvSpPr>
        <p:spPr>
          <a:xfrm>
            <a:off x="502920" y="6473952"/>
            <a:ext cx="6675120" cy="228600"/>
          </a:xfrm>
          <a:prstGeom prst="rect">
            <a:avLst/>
          </a:prstGeom>
          <a:noFill/>
          <a:ln/>
        </p:spPr>
        <p:txBody>
          <a:bodyPr wrap="square" lIns="0" tIns="0" rIns="0" bIns="0" rtlCol="0" anchor="ctr"/>
          <a:lstStyle/>
          <a:p>
            <a:pPr indent="0" marL="0">
              <a:buNone/>
            </a:pPr>
            <a:r>
              <a:rPr lang="en-US" sz="850" dirty="0">
                <a:solidFill>
                  <a:srgbClr val="7891AD"/>
                </a:solidFill>
              </a:rPr>
              <a:t>AIONE · Kinetic Digital Package · version recherche non-physique</a:t>
            </a:r>
            <a:endParaRPr lang="en-US" sz="850" dirty="0"/>
          </a:p>
        </p:txBody>
      </p:sp>
      <p:sp>
        <p:nvSpPr>
          <p:cNvPr id="29" name="Text 27"/>
          <p:cNvSpPr/>
          <p:nvPr/>
        </p:nvSpPr>
        <p:spPr>
          <a:xfrm>
            <a:off x="11292840" y="6419088"/>
            <a:ext cx="384048" cy="237744"/>
          </a:xfrm>
          <a:prstGeom prst="rect">
            <a:avLst/>
          </a:prstGeom>
          <a:noFill/>
          <a:ln/>
        </p:spPr>
        <p:txBody>
          <a:bodyPr wrap="square" lIns="0" tIns="0" rIns="0" bIns="0" rtlCol="0" anchor="ctr"/>
          <a:lstStyle/>
          <a:p>
            <a:pPr algn="r" indent="0" marL="0">
              <a:buNone/>
            </a:pPr>
            <a:r>
              <a:rPr lang="en-US" sz="900" b="1" dirty="0">
                <a:solidFill>
                  <a:srgbClr val="67E8F9"/>
                </a:solidFill>
              </a:rPr>
              <a:t>06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AIONE / Kinetic Digital Package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Moteur à distorsion froide — Pitch recherche</dc:title>
  <dc:subject>Ébauche de présentation rapide — moteur à distorsion froide</dc:subject>
  <dc:creator>Nora / AIONE Research</dc:creator>
  <cp:lastModifiedBy>Nora / AIONE Research</cp:lastModifiedBy>
  <cp:revision>1</cp:revision>
  <dcterms:created xsi:type="dcterms:W3CDTF">2026-08-19T20:25:35Z</dcterms:created>
  <dcterms:modified xsi:type="dcterms:W3CDTF">2026-08-19T20:25:35Z</dcterms:modified>
</cp:coreProperties>
</file>